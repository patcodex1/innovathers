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64" r:id="rId13"/>
    <p:sldId id="265" r:id="rId14"/>
    <p:sldId id="268" r:id="rId15"/>
    <p:sldId id="269" r:id="rId16"/>
    <p:sldId id="270" r:id="rId17"/>
    <p:sldId id="271" r:id="rId18"/>
    <p:sldId id="272" r:id="rId19"/>
    <p:sldId id="273" r:id="rId20"/>
    <p:sldId id="274"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1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Dropout Rate by CGPA Quartile</a:t>
            </a:r>
          </a:p>
        </c:rich>
      </c:tx>
      <c:layout/>
      <c:overlay val="0"/>
    </c:title>
    <c:autoTitleDeleted val="0"/>
    <c:plotArea>
      <c:layout/>
      <c:barChart>
        <c:barDir val="col"/>
        <c:grouping val="clustered"/>
        <c:varyColors val="0"/>
        <c:ser>
          <c:idx val="0"/>
          <c:order val="0"/>
          <c:tx>
            <c:strRef>
              <c:f>Sheet1!$B$1</c:f>
              <c:strCache>
                <c:ptCount val="1"/>
                <c:pt idx="0">
                  <c:v>Dropout Rate</c:v>
                </c:pt>
              </c:strCache>
            </c:strRef>
          </c:tx>
          <c:spPr>
            <a:solidFill>
              <a:srgbClr val="D64550"/>
            </a:solidFill>
            <a:effectLst/>
          </c:spPr>
          <c:invertIfNegative val="0"/>
          <c:dPt>
            <c:idx val="0"/>
            <c:invertIfNegative val="0"/>
            <c:bubble3D val="0"/>
            <c:extLst>
              <c:ext xmlns:c16="http://schemas.microsoft.com/office/drawing/2014/chart" uri="{C3380CC4-5D6E-409C-BE32-E72D297353CC}">
                <c16:uniqueId val="{00000001-7DEF-484F-9C26-CC78AE5E3559}"/>
              </c:ext>
            </c:extLst>
          </c:dPt>
          <c:dPt>
            <c:idx val="1"/>
            <c:invertIfNegative val="0"/>
            <c:bubble3D val="0"/>
            <c:extLst>
              <c:ext xmlns:c16="http://schemas.microsoft.com/office/drawing/2014/chart" uri="{C3380CC4-5D6E-409C-BE32-E72D297353CC}">
                <c16:uniqueId val="{00000003-7DEF-484F-9C26-CC78AE5E3559}"/>
              </c:ext>
            </c:extLst>
          </c:dPt>
          <c:dPt>
            <c:idx val="2"/>
            <c:invertIfNegative val="0"/>
            <c:bubble3D val="0"/>
            <c:spPr>
              <a:solidFill>
                <a:srgbClr val="F2A541"/>
              </a:solidFill>
              <a:effectLst/>
            </c:spPr>
            <c:extLst>
              <c:ext xmlns:c16="http://schemas.microsoft.com/office/drawing/2014/chart" uri="{C3380CC4-5D6E-409C-BE32-E72D297353CC}">
                <c16:uniqueId val="{00000005-7DEF-484F-9C26-CC78AE5E3559}"/>
              </c:ext>
            </c:extLst>
          </c:dPt>
          <c:dPt>
            <c:idx val="3"/>
            <c:invertIfNegative val="0"/>
            <c:bubble3D val="0"/>
            <c:spPr>
              <a:solidFill>
                <a:srgbClr val="3EA55B"/>
              </a:solidFill>
              <a:effectLst/>
            </c:spPr>
            <c:extLst>
              <c:ext xmlns:c16="http://schemas.microsoft.com/office/drawing/2014/chart" uri="{C3380CC4-5D6E-409C-BE32-E72D297353CC}">
                <c16:uniqueId val="{00000007-7DEF-484F-9C26-CC78AE5E3559}"/>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 &lt;1.52</c:v>
                </c:pt>
                <c:pt idx="1">
                  <c:v>Q2: 1.52–2.35</c:v>
                </c:pt>
                <c:pt idx="2">
                  <c:v>Q3: 2.35–3.14</c:v>
                </c:pt>
                <c:pt idx="3">
                  <c:v>Q4: &gt;3.14</c:v>
                </c:pt>
              </c:strCache>
            </c:strRef>
          </c:cat>
          <c:val>
            <c:numRef>
              <c:f>Sheet1!$B$2:$B$5</c:f>
              <c:numCache>
                <c:formatCode>General</c:formatCode>
                <c:ptCount val="4"/>
                <c:pt idx="0">
                  <c:v>52.7</c:v>
                </c:pt>
                <c:pt idx="1">
                  <c:v>24.9</c:v>
                </c:pt>
                <c:pt idx="2">
                  <c:v>12.1</c:v>
                </c:pt>
                <c:pt idx="3">
                  <c:v>4.0999999999999996</c:v>
                </c:pt>
              </c:numCache>
            </c:numRef>
          </c:val>
          <c:extLst>
            <c:ext xmlns:c16="http://schemas.microsoft.com/office/drawing/2014/chart" uri="{C3380CC4-5D6E-409C-BE32-E72D297353CC}">
              <c16:uniqueId val="{00000008-7DEF-484F-9C26-CC78AE5E35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7280"/>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7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Dropout Rate by Attendance Quartile</a:t>
            </a:r>
          </a:p>
        </c:rich>
      </c:tx>
      <c:layout/>
      <c:overlay val="0"/>
    </c:title>
    <c:autoTitleDeleted val="0"/>
    <c:plotArea>
      <c:layout/>
      <c:barChart>
        <c:barDir val="col"/>
        <c:grouping val="clustered"/>
        <c:varyColors val="0"/>
        <c:ser>
          <c:idx val="0"/>
          <c:order val="0"/>
          <c:tx>
            <c:strRef>
              <c:f>Sheet1!$B$1</c:f>
              <c:strCache>
                <c:ptCount val="1"/>
                <c:pt idx="0">
                  <c:v>Dropout Rate</c:v>
                </c:pt>
              </c:strCache>
            </c:strRef>
          </c:tx>
          <c:spPr>
            <a:solidFill>
              <a:srgbClr val="D64550"/>
            </a:solidFill>
            <a:effectLst/>
          </c:spPr>
          <c:invertIfNegative val="0"/>
          <c:dPt>
            <c:idx val="0"/>
            <c:invertIfNegative val="0"/>
            <c:bubble3D val="0"/>
            <c:spPr>
              <a:solidFill>
                <a:srgbClr val="D64550"/>
              </a:solidFill>
              <a:effectLst/>
            </c:spPr>
            <c:extLst>
              <c:ext xmlns:c16="http://schemas.microsoft.com/office/drawing/2014/chart" uri="{C3380CC4-5D6E-409C-BE32-E72D297353CC}">
                <c16:uniqueId val="{00000001-726D-43D4-8524-A1F783A91B4E}"/>
              </c:ext>
            </c:extLst>
          </c:dPt>
          <c:dPt>
            <c:idx val="1"/>
            <c:invertIfNegative val="0"/>
            <c:bubble3D val="0"/>
            <c:spPr>
              <a:solidFill>
                <a:srgbClr val="D64550"/>
              </a:solidFill>
              <a:effectLst/>
            </c:spPr>
            <c:extLst>
              <c:ext xmlns:c16="http://schemas.microsoft.com/office/drawing/2014/chart" uri="{C3380CC4-5D6E-409C-BE32-E72D297353CC}">
                <c16:uniqueId val="{00000003-726D-43D4-8524-A1F783A91B4E}"/>
              </c:ext>
            </c:extLst>
          </c:dPt>
          <c:dPt>
            <c:idx val="2"/>
            <c:invertIfNegative val="0"/>
            <c:bubble3D val="0"/>
            <c:spPr>
              <a:solidFill>
                <a:srgbClr val="F2A541"/>
              </a:solidFill>
              <a:effectLst/>
            </c:spPr>
            <c:extLst>
              <c:ext xmlns:c16="http://schemas.microsoft.com/office/drawing/2014/chart" uri="{C3380CC4-5D6E-409C-BE32-E72D297353CC}">
                <c16:uniqueId val="{00000005-726D-43D4-8524-A1F783A91B4E}"/>
              </c:ext>
            </c:extLst>
          </c:dPt>
          <c:dPt>
            <c:idx val="3"/>
            <c:invertIfNegative val="0"/>
            <c:bubble3D val="0"/>
            <c:spPr>
              <a:solidFill>
                <a:srgbClr val="3EA55B"/>
              </a:solidFill>
              <a:effectLst/>
            </c:spPr>
            <c:extLst>
              <c:ext xmlns:c16="http://schemas.microsoft.com/office/drawing/2014/chart" uri="{C3380CC4-5D6E-409C-BE32-E72D297353CC}">
                <c16:uniqueId val="{00000007-726D-43D4-8524-A1F783A91B4E}"/>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 &lt;76.6%</c:v>
                </c:pt>
                <c:pt idx="1">
                  <c:v>Q2: 76.6–82%</c:v>
                </c:pt>
                <c:pt idx="2">
                  <c:v>Q3: 82–87.4%</c:v>
                </c:pt>
                <c:pt idx="3">
                  <c:v>Q4: &gt;87.4%</c:v>
                </c:pt>
              </c:strCache>
            </c:strRef>
          </c:cat>
          <c:val>
            <c:numRef>
              <c:f>Sheet1!$B$2:$B$5</c:f>
              <c:numCache>
                <c:formatCode>General</c:formatCode>
                <c:ptCount val="4"/>
                <c:pt idx="0">
                  <c:v>32</c:v>
                </c:pt>
                <c:pt idx="1">
                  <c:v>24.5</c:v>
                </c:pt>
                <c:pt idx="2">
                  <c:v>20</c:v>
                </c:pt>
                <c:pt idx="3">
                  <c:v>13</c:v>
                </c:pt>
              </c:numCache>
            </c:numRef>
          </c:val>
          <c:extLst>
            <c:ext xmlns:c16="http://schemas.microsoft.com/office/drawing/2014/chart" uri="{C3380CC4-5D6E-409C-BE32-E72D297353CC}">
              <c16:uniqueId val="{00000008-726D-43D4-8524-A1F783A91B4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7280"/>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7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Dropout Rate by Stress Quartile</a:t>
            </a:r>
          </a:p>
        </c:rich>
      </c:tx>
      <c:layout/>
      <c:overlay val="0"/>
    </c:title>
    <c:autoTitleDeleted val="0"/>
    <c:plotArea>
      <c:layout/>
      <c:barChart>
        <c:barDir val="col"/>
        <c:grouping val="clustered"/>
        <c:varyColors val="0"/>
        <c:ser>
          <c:idx val="0"/>
          <c:order val="0"/>
          <c:tx>
            <c:strRef>
              <c:f>Sheet1!$B$1</c:f>
              <c:strCache>
                <c:ptCount val="1"/>
                <c:pt idx="0">
                  <c:v>Dropout Rate</c:v>
                </c:pt>
              </c:strCache>
            </c:strRef>
          </c:tx>
          <c:spPr>
            <a:solidFill>
              <a:srgbClr val="3EA55B"/>
            </a:solidFill>
            <a:effectLst/>
          </c:spPr>
          <c:invertIfNegative val="0"/>
          <c:dPt>
            <c:idx val="0"/>
            <c:invertIfNegative val="0"/>
            <c:bubble3D val="0"/>
            <c:spPr>
              <a:solidFill>
                <a:srgbClr val="3EA55B"/>
              </a:solidFill>
              <a:effectLst/>
            </c:spPr>
            <c:extLst>
              <c:ext xmlns:c16="http://schemas.microsoft.com/office/drawing/2014/chart" uri="{C3380CC4-5D6E-409C-BE32-E72D297353CC}">
                <c16:uniqueId val="{00000001-B8D9-4BA5-A815-408150796E71}"/>
              </c:ext>
            </c:extLst>
          </c:dPt>
          <c:dPt>
            <c:idx val="1"/>
            <c:invertIfNegative val="0"/>
            <c:bubble3D val="0"/>
            <c:spPr>
              <a:solidFill>
                <a:srgbClr val="F2A541"/>
              </a:solidFill>
              <a:effectLst/>
            </c:spPr>
            <c:extLst>
              <c:ext xmlns:c16="http://schemas.microsoft.com/office/drawing/2014/chart" uri="{C3380CC4-5D6E-409C-BE32-E72D297353CC}">
                <c16:uniqueId val="{00000003-B8D9-4BA5-A815-408150796E71}"/>
              </c:ext>
            </c:extLst>
          </c:dPt>
          <c:dPt>
            <c:idx val="2"/>
            <c:invertIfNegative val="0"/>
            <c:bubble3D val="0"/>
            <c:spPr>
              <a:solidFill>
                <a:srgbClr val="D64550"/>
              </a:solidFill>
              <a:effectLst/>
            </c:spPr>
            <c:extLst>
              <c:ext xmlns:c16="http://schemas.microsoft.com/office/drawing/2014/chart" uri="{C3380CC4-5D6E-409C-BE32-E72D297353CC}">
                <c16:uniqueId val="{00000005-B8D9-4BA5-A815-408150796E71}"/>
              </c:ext>
            </c:extLst>
          </c:dPt>
          <c:dPt>
            <c:idx val="3"/>
            <c:invertIfNegative val="0"/>
            <c:bubble3D val="0"/>
            <c:spPr>
              <a:solidFill>
                <a:srgbClr val="D64550"/>
              </a:solidFill>
              <a:effectLst/>
            </c:spPr>
            <c:extLst>
              <c:ext xmlns:c16="http://schemas.microsoft.com/office/drawing/2014/chart" uri="{C3380CC4-5D6E-409C-BE32-E72D297353CC}">
                <c16:uniqueId val="{00000007-B8D9-4BA5-A815-408150796E71}"/>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 &lt;4.3</c:v>
                </c:pt>
                <c:pt idx="1">
                  <c:v>Q2: 4.3–5.5</c:v>
                </c:pt>
                <c:pt idx="2">
                  <c:v>Q3: 5.5–6.7</c:v>
                </c:pt>
                <c:pt idx="3">
                  <c:v>Q4: &gt;6.7</c:v>
                </c:pt>
              </c:strCache>
            </c:strRef>
          </c:cat>
          <c:val>
            <c:numRef>
              <c:f>Sheet1!$B$2:$B$5</c:f>
              <c:numCache>
                <c:formatCode>General</c:formatCode>
                <c:ptCount val="4"/>
                <c:pt idx="0">
                  <c:v>11.4</c:v>
                </c:pt>
                <c:pt idx="1">
                  <c:v>18.600000000000001</c:v>
                </c:pt>
                <c:pt idx="2">
                  <c:v>26.3</c:v>
                </c:pt>
                <c:pt idx="3">
                  <c:v>39</c:v>
                </c:pt>
              </c:numCache>
            </c:numRef>
          </c:val>
          <c:extLst>
            <c:ext xmlns:c16="http://schemas.microsoft.com/office/drawing/2014/chart" uri="{C3380CC4-5D6E-409C-BE32-E72D297353CC}">
              <c16:uniqueId val="{00000008-B8D9-4BA5-A815-408150796E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7280"/>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7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Dropout Rate by Study Hours Quartile</a:t>
            </a:r>
          </a:p>
        </c:rich>
      </c:tx>
      <c:layout/>
      <c:overlay val="0"/>
    </c:title>
    <c:autoTitleDeleted val="0"/>
    <c:plotArea>
      <c:layout/>
      <c:barChart>
        <c:barDir val="col"/>
        <c:grouping val="clustered"/>
        <c:varyColors val="0"/>
        <c:ser>
          <c:idx val="0"/>
          <c:order val="0"/>
          <c:tx>
            <c:strRef>
              <c:f>Sheet1!$B$1</c:f>
              <c:strCache>
                <c:ptCount val="1"/>
                <c:pt idx="0">
                  <c:v>Dropout Rate</c:v>
                </c:pt>
              </c:strCache>
            </c:strRef>
          </c:tx>
          <c:spPr>
            <a:solidFill>
              <a:srgbClr val="D64550"/>
            </a:solidFill>
            <a:effectLst/>
          </c:spPr>
          <c:invertIfNegative val="0"/>
          <c:dPt>
            <c:idx val="0"/>
            <c:invertIfNegative val="0"/>
            <c:bubble3D val="0"/>
            <c:extLst>
              <c:ext xmlns:c16="http://schemas.microsoft.com/office/drawing/2014/chart" uri="{C3380CC4-5D6E-409C-BE32-E72D297353CC}">
                <c16:uniqueId val="{00000001-4638-4758-B11D-1F65DCBA4FA3}"/>
              </c:ext>
            </c:extLst>
          </c:dPt>
          <c:dPt>
            <c:idx val="1"/>
            <c:invertIfNegative val="0"/>
            <c:bubble3D val="0"/>
            <c:spPr>
              <a:solidFill>
                <a:srgbClr val="F2A541"/>
              </a:solidFill>
              <a:effectLst/>
            </c:spPr>
            <c:extLst>
              <c:ext xmlns:c16="http://schemas.microsoft.com/office/drawing/2014/chart" uri="{C3380CC4-5D6E-409C-BE32-E72D297353CC}">
                <c16:uniqueId val="{00000003-4638-4758-B11D-1F65DCBA4FA3}"/>
              </c:ext>
            </c:extLst>
          </c:dPt>
          <c:dPt>
            <c:idx val="2"/>
            <c:invertIfNegative val="0"/>
            <c:bubble3D val="0"/>
            <c:spPr>
              <a:solidFill>
                <a:srgbClr val="F2A541"/>
              </a:solidFill>
              <a:effectLst/>
            </c:spPr>
            <c:extLst>
              <c:ext xmlns:c16="http://schemas.microsoft.com/office/drawing/2014/chart" uri="{C3380CC4-5D6E-409C-BE32-E72D297353CC}">
                <c16:uniqueId val="{00000005-4638-4758-B11D-1F65DCBA4FA3}"/>
              </c:ext>
            </c:extLst>
          </c:dPt>
          <c:dPt>
            <c:idx val="3"/>
            <c:invertIfNegative val="0"/>
            <c:bubble3D val="0"/>
            <c:spPr>
              <a:solidFill>
                <a:srgbClr val="3EA55B"/>
              </a:solidFill>
              <a:effectLst/>
            </c:spPr>
            <c:extLst>
              <c:ext xmlns:c16="http://schemas.microsoft.com/office/drawing/2014/chart" uri="{C3380CC4-5D6E-409C-BE32-E72D297353CC}">
                <c16:uniqueId val="{00000007-4638-4758-B11D-1F65DCBA4FA3}"/>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 &lt;3.16</c:v>
                </c:pt>
                <c:pt idx="1">
                  <c:v>Q2: 3.16–4.0</c:v>
                </c:pt>
                <c:pt idx="2">
                  <c:v>Q3: 4.0–4.87</c:v>
                </c:pt>
                <c:pt idx="3">
                  <c:v>Q4: &gt;4.87</c:v>
                </c:pt>
              </c:strCache>
            </c:strRef>
          </c:cat>
          <c:val>
            <c:numRef>
              <c:f>Sheet1!$B$2:$B$5</c:f>
              <c:numCache>
                <c:formatCode>General</c:formatCode>
                <c:ptCount val="4"/>
                <c:pt idx="0">
                  <c:v>28.1</c:v>
                </c:pt>
                <c:pt idx="1">
                  <c:v>25.7</c:v>
                </c:pt>
                <c:pt idx="2">
                  <c:v>21.5</c:v>
                </c:pt>
                <c:pt idx="3">
                  <c:v>19</c:v>
                </c:pt>
              </c:numCache>
            </c:numRef>
          </c:val>
          <c:extLst>
            <c:ext xmlns:c16="http://schemas.microsoft.com/office/drawing/2014/chart" uri="{C3380CC4-5D6E-409C-BE32-E72D297353CC}">
              <c16:uniqueId val="{00000008-4638-4758-B11D-1F65DCBA4FA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7280"/>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7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17"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918"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7/7/2026</a:t>
            </a:fld>
            <a:endParaRPr lang="en-US"/>
          </a:p>
        </p:txBody>
      </p:sp>
      <p:sp>
        <p:nvSpPr>
          <p:cNvPr id="1048919"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920"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1"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922"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Slide Image Placeholder 1"/>
          <p:cNvSpPr>
            <a:spLocks noGrp="1" noRot="1" noChangeAspect="1"/>
          </p:cNvSpPr>
          <p:nvPr>
            <p:ph type="sldImg"/>
          </p:nvPr>
        </p:nvSpPr>
        <p:spPr/>
      </p:sp>
      <p:sp>
        <p:nvSpPr>
          <p:cNvPr id="1048587" name="Notes Placeholder 2"/>
          <p:cNvSpPr>
            <a:spLocks noGrp="1"/>
          </p:cNvSpPr>
          <p:nvPr>
            <p:ph type="body" idx="1"/>
          </p:nvPr>
        </p:nvSpPr>
        <p:spPr/>
        <p:txBody>
          <a:bodyPr/>
          <a:lstStyle/>
          <a:p>
            <a:endParaRPr lang="en-US" dirty="0"/>
          </a:p>
        </p:txBody>
      </p:sp>
      <p:sp>
        <p:nvSpPr>
          <p:cNvPr id="1048588"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Slide Image Placeholder 1"/>
          <p:cNvSpPr>
            <a:spLocks noGrp="1" noRot="1" noChangeAspect="1"/>
          </p:cNvSpPr>
          <p:nvPr>
            <p:ph type="sldImg"/>
          </p:nvPr>
        </p:nvSpPr>
        <p:spPr/>
      </p:sp>
      <p:sp>
        <p:nvSpPr>
          <p:cNvPr id="1048605" name="Notes Placeholder 2"/>
          <p:cNvSpPr>
            <a:spLocks noGrp="1"/>
          </p:cNvSpPr>
          <p:nvPr>
            <p:ph type="body" idx="1"/>
          </p:nvPr>
        </p:nvSpPr>
        <p:spPr/>
        <p:txBody>
          <a:bodyPr/>
          <a:lstStyle/>
          <a:p>
            <a:endParaRPr lang="en-US" dirty="0"/>
          </a:p>
        </p:txBody>
      </p:sp>
      <p:sp>
        <p:nvSpPr>
          <p:cNvPr id="1048606"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Slide Image Placeholder 1"/>
          <p:cNvSpPr>
            <a:spLocks noGrp="1" noRot="1" noChangeAspect="1"/>
          </p:cNvSpPr>
          <p:nvPr>
            <p:ph type="sldImg"/>
          </p:nvPr>
        </p:nvSpPr>
        <p:spPr/>
      </p:sp>
      <p:sp>
        <p:nvSpPr>
          <p:cNvPr id="1048627" name="Notes Placeholder 2"/>
          <p:cNvSpPr>
            <a:spLocks noGrp="1"/>
          </p:cNvSpPr>
          <p:nvPr>
            <p:ph type="body" idx="1"/>
          </p:nvPr>
        </p:nvSpPr>
        <p:spPr/>
        <p:txBody>
          <a:bodyPr/>
          <a:lstStyle/>
          <a:p>
            <a:endParaRPr lang="en-US" dirty="0"/>
          </a:p>
        </p:txBody>
      </p:sp>
      <p:sp>
        <p:nvSpPr>
          <p:cNvPr id="1048628"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Slide Image Placeholder 1"/>
          <p:cNvSpPr>
            <a:spLocks noGrp="1" noRot="1" noChangeAspect="1"/>
          </p:cNvSpPr>
          <p:nvPr>
            <p:ph type="sldImg"/>
          </p:nvPr>
        </p:nvSpPr>
        <p:spPr/>
      </p:sp>
      <p:sp>
        <p:nvSpPr>
          <p:cNvPr id="1048649" name="Notes Placeholder 2"/>
          <p:cNvSpPr>
            <a:spLocks noGrp="1"/>
          </p:cNvSpPr>
          <p:nvPr>
            <p:ph type="body" idx="1"/>
          </p:nvPr>
        </p:nvSpPr>
        <p:spPr/>
        <p:txBody>
          <a:bodyPr/>
          <a:lstStyle/>
          <a:p>
            <a:endParaRPr lang="en-US" dirty="0"/>
          </a:p>
        </p:txBody>
      </p:sp>
      <p:sp>
        <p:nvSpPr>
          <p:cNvPr id="1048650"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Slide Image Placeholder 1"/>
          <p:cNvSpPr>
            <a:spLocks noGrp="1" noRot="1" noChangeAspect="1"/>
          </p:cNvSpPr>
          <p:nvPr>
            <p:ph type="sldImg"/>
          </p:nvPr>
        </p:nvSpPr>
        <p:spPr/>
      </p:sp>
      <p:sp>
        <p:nvSpPr>
          <p:cNvPr id="1048669" name="Notes Placeholder 2"/>
          <p:cNvSpPr>
            <a:spLocks noGrp="1"/>
          </p:cNvSpPr>
          <p:nvPr>
            <p:ph type="body" idx="1"/>
          </p:nvPr>
        </p:nvSpPr>
        <p:spPr/>
        <p:txBody>
          <a:bodyPr/>
          <a:lstStyle/>
          <a:p>
            <a:endParaRPr lang="en-US" dirty="0"/>
          </a:p>
        </p:txBody>
      </p:sp>
      <p:sp>
        <p:nvSpPr>
          <p:cNvPr id="1048670"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Slide Image Placeholder 1"/>
          <p:cNvSpPr>
            <a:spLocks noGrp="1" noRot="1" noChangeAspect="1"/>
          </p:cNvSpPr>
          <p:nvPr>
            <p:ph type="sldImg"/>
          </p:nvPr>
        </p:nvSpPr>
        <p:spPr/>
      </p:sp>
      <p:sp>
        <p:nvSpPr>
          <p:cNvPr id="1048695" name="Notes Placeholder 2"/>
          <p:cNvSpPr>
            <a:spLocks noGrp="1"/>
          </p:cNvSpPr>
          <p:nvPr>
            <p:ph type="body" idx="1"/>
          </p:nvPr>
        </p:nvSpPr>
        <p:spPr/>
        <p:txBody>
          <a:bodyPr/>
          <a:lstStyle/>
          <a:p>
            <a:endParaRPr lang="en-US" dirty="0"/>
          </a:p>
        </p:txBody>
      </p:sp>
      <p:sp>
        <p:nvSpPr>
          <p:cNvPr id="1048696"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Slide Image Placeholder 1"/>
          <p:cNvSpPr>
            <a:spLocks noGrp="1" noRot="1" noChangeAspect="1"/>
          </p:cNvSpPr>
          <p:nvPr>
            <p:ph type="sldImg"/>
          </p:nvPr>
        </p:nvSpPr>
        <p:spPr/>
      </p:sp>
      <p:sp>
        <p:nvSpPr>
          <p:cNvPr id="1048707" name="Notes Placeholder 2"/>
          <p:cNvSpPr>
            <a:spLocks noGrp="1"/>
          </p:cNvSpPr>
          <p:nvPr>
            <p:ph type="body" idx="1"/>
          </p:nvPr>
        </p:nvSpPr>
        <p:spPr/>
        <p:txBody>
          <a:bodyPr/>
          <a:lstStyle/>
          <a:p>
            <a:endParaRPr lang="en-US" dirty="0"/>
          </a:p>
        </p:txBody>
      </p:sp>
      <p:sp>
        <p:nvSpPr>
          <p:cNvPr id="1048708"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Slide Image Placeholder 1"/>
          <p:cNvSpPr>
            <a:spLocks noGrp="1" noRot="1" noChangeAspect="1"/>
          </p:cNvSpPr>
          <p:nvPr>
            <p:ph type="sldImg"/>
          </p:nvPr>
        </p:nvSpPr>
        <p:spPr/>
      </p:sp>
      <p:sp>
        <p:nvSpPr>
          <p:cNvPr id="1048730" name="Notes Placeholder 2"/>
          <p:cNvSpPr>
            <a:spLocks noGrp="1"/>
          </p:cNvSpPr>
          <p:nvPr>
            <p:ph type="body" idx="1"/>
          </p:nvPr>
        </p:nvSpPr>
        <p:spPr/>
        <p:txBody>
          <a:bodyPr/>
          <a:lstStyle/>
          <a:p>
            <a:endParaRPr lang="en-US" dirty="0"/>
          </a:p>
        </p:txBody>
      </p:sp>
      <p:sp>
        <p:nvSpPr>
          <p:cNvPr id="1048731"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Slide Image Placeholder 1"/>
          <p:cNvSpPr>
            <a:spLocks noGrp="1" noRot="1" noChangeAspect="1"/>
          </p:cNvSpPr>
          <p:nvPr>
            <p:ph type="sldImg"/>
          </p:nvPr>
        </p:nvSpPr>
        <p:spPr/>
      </p:sp>
      <p:sp>
        <p:nvSpPr>
          <p:cNvPr id="1048743" name="Notes Placeholder 2"/>
          <p:cNvSpPr>
            <a:spLocks noGrp="1"/>
          </p:cNvSpPr>
          <p:nvPr>
            <p:ph type="body" idx="1"/>
          </p:nvPr>
        </p:nvSpPr>
        <p:spPr/>
        <p:txBody>
          <a:bodyPr/>
          <a:lstStyle/>
          <a:p>
            <a:endParaRPr lang="en-US" dirty="0"/>
          </a:p>
        </p:txBody>
      </p:sp>
      <p:sp>
        <p:nvSpPr>
          <p:cNvPr id="104874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Slide Image Placeholder 1"/>
          <p:cNvSpPr>
            <a:spLocks noGrp="1" noRot="1" noChangeAspect="1"/>
          </p:cNvSpPr>
          <p:nvPr>
            <p:ph type="sldImg"/>
          </p:nvPr>
        </p:nvSpPr>
        <p:spPr/>
      </p:sp>
      <p:sp>
        <p:nvSpPr>
          <p:cNvPr id="1048750" name="Notes Placeholder 2"/>
          <p:cNvSpPr>
            <a:spLocks noGrp="1"/>
          </p:cNvSpPr>
          <p:nvPr>
            <p:ph type="body" idx="1"/>
          </p:nvPr>
        </p:nvSpPr>
        <p:spPr/>
        <p:txBody>
          <a:bodyPr/>
          <a:lstStyle/>
          <a:p>
            <a:endParaRPr lang="en-US" dirty="0"/>
          </a:p>
        </p:txBody>
      </p:sp>
      <p:sp>
        <p:nvSpPr>
          <p:cNvPr id="1048751"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3" name="Slide Image Placeholder 1"/>
          <p:cNvSpPr>
            <a:spLocks noGrp="1" noRot="1" noChangeAspect="1"/>
          </p:cNvSpPr>
          <p:nvPr>
            <p:ph type="sldImg"/>
          </p:nvPr>
        </p:nvSpPr>
        <p:spPr/>
      </p:sp>
      <p:sp>
        <p:nvSpPr>
          <p:cNvPr id="1048784" name="Notes Placeholder 2"/>
          <p:cNvSpPr>
            <a:spLocks noGrp="1"/>
          </p:cNvSpPr>
          <p:nvPr>
            <p:ph type="body" idx="1"/>
          </p:nvPr>
        </p:nvSpPr>
        <p:spPr/>
        <p:txBody>
          <a:bodyPr/>
          <a:lstStyle/>
          <a:p>
            <a:endParaRPr lang="en-US" dirty="0"/>
          </a:p>
        </p:txBody>
      </p:sp>
      <p:sp>
        <p:nvSpPr>
          <p:cNvPr id="1048785"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Slide Image Placeholder 1"/>
          <p:cNvSpPr>
            <a:spLocks noGrp="1" noRot="1" noChangeAspect="1"/>
          </p:cNvSpPr>
          <p:nvPr>
            <p:ph type="sldImg"/>
          </p:nvPr>
        </p:nvSpPr>
        <p:spPr/>
      </p:sp>
      <p:sp>
        <p:nvSpPr>
          <p:cNvPr id="1048803" name="Notes Placeholder 2"/>
          <p:cNvSpPr>
            <a:spLocks noGrp="1"/>
          </p:cNvSpPr>
          <p:nvPr>
            <p:ph type="body" idx="1"/>
          </p:nvPr>
        </p:nvSpPr>
        <p:spPr/>
        <p:txBody>
          <a:bodyPr/>
          <a:lstStyle/>
          <a:p>
            <a:endParaRPr lang="en-US" dirty="0"/>
          </a:p>
        </p:txBody>
      </p:sp>
      <p:sp>
        <p:nvSpPr>
          <p:cNvPr id="104880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4" name="Slide Image Placeholder 1"/>
          <p:cNvSpPr>
            <a:spLocks noGrp="1" noRot="1" noChangeAspect="1"/>
          </p:cNvSpPr>
          <p:nvPr>
            <p:ph type="sldImg"/>
          </p:nvPr>
        </p:nvSpPr>
        <p:spPr/>
      </p:sp>
      <p:sp>
        <p:nvSpPr>
          <p:cNvPr id="1048835" name="Notes Placeholder 2"/>
          <p:cNvSpPr>
            <a:spLocks noGrp="1"/>
          </p:cNvSpPr>
          <p:nvPr>
            <p:ph type="body" idx="1"/>
          </p:nvPr>
        </p:nvSpPr>
        <p:spPr/>
        <p:txBody>
          <a:bodyPr/>
          <a:lstStyle/>
          <a:p>
            <a:endParaRPr lang="en-US" dirty="0"/>
          </a:p>
        </p:txBody>
      </p:sp>
      <p:sp>
        <p:nvSpPr>
          <p:cNvPr id="1048836"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7" name="Slide Image Placeholder 1"/>
          <p:cNvSpPr>
            <a:spLocks noGrp="1" noRot="1" noChangeAspect="1"/>
          </p:cNvSpPr>
          <p:nvPr>
            <p:ph type="sldImg"/>
          </p:nvPr>
        </p:nvSpPr>
        <p:spPr/>
      </p:sp>
      <p:sp>
        <p:nvSpPr>
          <p:cNvPr id="1048858" name="Notes Placeholder 2"/>
          <p:cNvSpPr>
            <a:spLocks noGrp="1"/>
          </p:cNvSpPr>
          <p:nvPr>
            <p:ph type="body" idx="1"/>
          </p:nvPr>
        </p:nvSpPr>
        <p:spPr/>
        <p:txBody>
          <a:bodyPr/>
          <a:lstStyle/>
          <a:p>
            <a:endParaRPr lang="en-US" dirty="0"/>
          </a:p>
        </p:txBody>
      </p:sp>
      <p:sp>
        <p:nvSpPr>
          <p:cNvPr id="1048859"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9" name="Slide Image Placeholder 1"/>
          <p:cNvSpPr>
            <a:spLocks noGrp="1" noRot="1" noChangeAspect="1"/>
          </p:cNvSpPr>
          <p:nvPr>
            <p:ph type="sldImg"/>
          </p:nvPr>
        </p:nvSpPr>
        <p:spPr/>
      </p:sp>
      <p:sp>
        <p:nvSpPr>
          <p:cNvPr id="1048880" name="Notes Placeholder 2"/>
          <p:cNvSpPr>
            <a:spLocks noGrp="1"/>
          </p:cNvSpPr>
          <p:nvPr>
            <p:ph type="body" idx="1"/>
          </p:nvPr>
        </p:nvSpPr>
        <p:spPr/>
        <p:txBody>
          <a:bodyPr/>
          <a:lstStyle/>
          <a:p>
            <a:endParaRPr lang="en-US" dirty="0"/>
          </a:p>
        </p:txBody>
      </p:sp>
      <p:sp>
        <p:nvSpPr>
          <p:cNvPr id="1048881"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7" name="Slide Image Placeholder 1"/>
          <p:cNvSpPr>
            <a:spLocks noGrp="1" noRot="1" noChangeAspect="1"/>
          </p:cNvSpPr>
          <p:nvPr>
            <p:ph type="sldImg"/>
          </p:nvPr>
        </p:nvSpPr>
        <p:spPr/>
      </p:sp>
      <p:sp>
        <p:nvSpPr>
          <p:cNvPr id="1048898" name="Notes Placeholder 2"/>
          <p:cNvSpPr>
            <a:spLocks noGrp="1"/>
          </p:cNvSpPr>
          <p:nvPr>
            <p:ph type="body" idx="1"/>
          </p:nvPr>
        </p:nvSpPr>
        <p:spPr/>
        <p:txBody>
          <a:bodyPr/>
          <a:lstStyle/>
          <a:p>
            <a:endParaRPr lang="en-US" dirty="0"/>
          </a:p>
        </p:txBody>
      </p:sp>
      <p:sp>
        <p:nvSpPr>
          <p:cNvPr id="1048899"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4" name="Slide Image Placeholder 1"/>
          <p:cNvSpPr>
            <a:spLocks noGrp="1" noRot="1" noChangeAspect="1"/>
          </p:cNvSpPr>
          <p:nvPr>
            <p:ph type="sldImg"/>
          </p:nvPr>
        </p:nvSpPr>
        <p:spPr/>
      </p:sp>
      <p:sp>
        <p:nvSpPr>
          <p:cNvPr id="1048915" name="Notes Placeholder 2"/>
          <p:cNvSpPr>
            <a:spLocks noGrp="1"/>
          </p:cNvSpPr>
          <p:nvPr>
            <p:ph type="body" idx="1"/>
          </p:nvPr>
        </p:nvSpPr>
        <p:spPr/>
        <p:txBody>
          <a:bodyPr/>
          <a:lstStyle/>
          <a:p>
            <a:endParaRPr lang="en-US" dirty="0"/>
          </a:p>
        </p:txBody>
      </p:sp>
      <p:sp>
        <p:nvSpPr>
          <p:cNvPr id="1048916"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A"/>
        </a:solidFill>
        <a:effectLst/>
      </p:bgPr>
    </p:bg>
    <p:spTree>
      <p:nvGrpSpPr>
        <p:cNvPr id="1" name=""/>
        <p:cNvGrpSpPr/>
        <p:nvPr/>
      </p:nvGrpSpPr>
      <p:grpSpPr>
        <a:xfrm>
          <a:off x="0" y="0"/>
          <a:ext cx="0" cy="0"/>
          <a:chOff x="0" y="0"/>
          <a:chExt cx="0" cy="0"/>
        </a:xfrm>
      </p:grpSpPr>
      <p:sp>
        <p:nvSpPr>
          <p:cNvPr id="1048576" name="Shape 0"/>
          <p:cNvSpPr/>
          <p:nvPr/>
        </p:nvSpPr>
        <p:spPr>
          <a:xfrm>
            <a:off x="9784080" y="-1188720"/>
            <a:ext cx="3840480" cy="3840480"/>
          </a:xfrm>
          <a:prstGeom prst="ellipse">
            <a:avLst/>
          </a:prstGeom>
          <a:solidFill>
            <a:srgbClr val="1C7293">
              <a:alpha val="30000"/>
            </a:srgbClr>
          </a:solidFill>
        </p:spPr>
      </p:sp>
      <p:sp>
        <p:nvSpPr>
          <p:cNvPr id="1048577" name="Shape 1"/>
          <p:cNvSpPr/>
          <p:nvPr/>
        </p:nvSpPr>
        <p:spPr>
          <a:xfrm>
            <a:off x="10789920" y="3840480"/>
            <a:ext cx="2743200" cy="2743200"/>
          </a:xfrm>
          <a:prstGeom prst="ellipse">
            <a:avLst/>
          </a:prstGeom>
          <a:solidFill>
            <a:srgbClr val="3EC1B3">
              <a:alpha val="22000"/>
            </a:srgbClr>
          </a:solidFill>
        </p:spPr>
      </p:sp>
      <p:sp>
        <p:nvSpPr>
          <p:cNvPr id="1048578" name="Shape 2"/>
          <p:cNvSpPr/>
          <p:nvPr/>
        </p:nvSpPr>
        <p:spPr>
          <a:xfrm>
            <a:off x="-1097280" y="5120640"/>
            <a:ext cx="2926080" cy="2926080"/>
          </a:xfrm>
          <a:prstGeom prst="ellipse">
            <a:avLst/>
          </a:prstGeom>
          <a:solidFill>
            <a:srgbClr val="F0663A">
              <a:alpha val="18000"/>
            </a:srgbClr>
          </a:solidFill>
        </p:spPr>
      </p:sp>
      <p:sp>
        <p:nvSpPr>
          <p:cNvPr id="1048579" name="Shape 3"/>
          <p:cNvSpPr/>
          <p:nvPr/>
        </p:nvSpPr>
        <p:spPr>
          <a:xfrm>
            <a:off x="822960" y="914400"/>
            <a:ext cx="822960" cy="822960"/>
          </a:xfrm>
          <a:prstGeom prst="ellipse">
            <a:avLst/>
          </a:prstGeom>
          <a:solidFill>
            <a:srgbClr val="1C7293"/>
          </a:solidFill>
        </p:spPr>
      </p:sp>
      <p:pic>
        <p:nvPicPr>
          <p:cNvPr id="2097152" name="Image 0" descr="preencoded.png"/>
          <p:cNvPicPr>
            <a:picLocks noChangeAspect="1"/>
          </p:cNvPicPr>
          <p:nvPr/>
        </p:nvPicPr>
        <p:blipFill>
          <a:blip r:embed="rId3"/>
          <a:stretch>
            <a:fillRect/>
          </a:stretch>
        </p:blipFill>
        <p:spPr>
          <a:xfrm>
            <a:off x="1036930" y="1128370"/>
            <a:ext cx="395021" cy="395021"/>
          </a:xfrm>
          <a:prstGeom prst="rect">
            <a:avLst/>
          </a:prstGeom>
        </p:spPr>
      </p:pic>
      <p:sp>
        <p:nvSpPr>
          <p:cNvPr id="1048580" name="Text 4"/>
          <p:cNvSpPr/>
          <p:nvPr/>
        </p:nvSpPr>
        <p:spPr>
          <a:xfrm>
            <a:off x="822960" y="1965960"/>
            <a:ext cx="8229600" cy="320040"/>
          </a:xfrm>
          <a:prstGeom prst="rect">
            <a:avLst/>
          </a:prstGeom>
          <a:noFill/>
        </p:spPr>
        <p:txBody>
          <a:bodyPr wrap="square" lIns="0" tIns="0" rIns="0" bIns="0" rtlCol="0" anchor="ctr"/>
          <a:lstStyle/>
          <a:p>
            <a:pPr marL="0" indent="0">
              <a:buNone/>
            </a:pPr>
            <a:r>
              <a:rPr lang="en-US" sz="1300" b="1" kern="0" spc="200" dirty="0">
                <a:solidFill>
                  <a:srgbClr val="3EC1B3"/>
                </a:solidFill>
                <a:latin typeface="Calibri" pitchFamily="34" charset="0"/>
                <a:ea typeface="Calibri" pitchFamily="34" charset="-122"/>
                <a:cs typeface="Calibri" pitchFamily="34" charset="-120"/>
              </a:rPr>
              <a:t>TECH4DEV WT BOOTCAMP · COHORT 5.1</a:t>
            </a:r>
            <a:endParaRPr lang="en-US" sz="1300" dirty="0"/>
          </a:p>
        </p:txBody>
      </p:sp>
      <p:sp>
        <p:nvSpPr>
          <p:cNvPr id="1048581" name="Text 5"/>
          <p:cNvSpPr/>
          <p:nvPr/>
        </p:nvSpPr>
        <p:spPr>
          <a:xfrm>
            <a:off x="822960" y="2286000"/>
            <a:ext cx="10241280" cy="1463040"/>
          </a:xfrm>
          <a:prstGeom prst="rect">
            <a:avLst/>
          </a:prstGeom>
          <a:noFill/>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Student Dropout Risk Prediction</a:t>
            </a:r>
            <a:endParaRPr lang="en-US" sz="4400" dirty="0"/>
          </a:p>
        </p:txBody>
      </p:sp>
      <p:sp>
        <p:nvSpPr>
          <p:cNvPr id="1048582" name="Text 6"/>
          <p:cNvSpPr/>
          <p:nvPr/>
        </p:nvSpPr>
        <p:spPr>
          <a:xfrm>
            <a:off x="822960" y="3520440"/>
            <a:ext cx="9601200" cy="548640"/>
          </a:xfrm>
          <a:prstGeom prst="rect">
            <a:avLst/>
          </a:prstGeom>
          <a:noFill/>
        </p:spPr>
        <p:txBody>
          <a:bodyPr wrap="square" lIns="0" tIns="0" rIns="0" bIns="0" rtlCol="0" anchor="ctr"/>
          <a:lstStyle/>
          <a:p>
            <a:pPr marL="0" indent="0">
              <a:buNone/>
            </a:pPr>
            <a:r>
              <a:rPr lang="en-US" sz="1700" i="1" dirty="0">
                <a:solidFill>
                  <a:srgbClr val="CADCE6"/>
                </a:solidFill>
                <a:latin typeface="Calibri" pitchFamily="34" charset="0"/>
                <a:ea typeface="Calibri" pitchFamily="34" charset="-122"/>
                <a:cs typeface="Calibri" pitchFamily="34" charset="-120"/>
              </a:rPr>
              <a:t>A Data-Driven Early Warning System for Higher Education Retention</a:t>
            </a:r>
            <a:endParaRPr lang="en-US" sz="1700" dirty="0"/>
          </a:p>
        </p:txBody>
      </p:sp>
      <p:sp>
        <p:nvSpPr>
          <p:cNvPr id="1048583" name="Shape 7"/>
          <p:cNvSpPr/>
          <p:nvPr/>
        </p:nvSpPr>
        <p:spPr>
          <a:xfrm>
            <a:off x="822960" y="4297680"/>
            <a:ext cx="2926080" cy="0"/>
          </a:xfrm>
          <a:prstGeom prst="line">
            <a:avLst/>
          </a:prstGeom>
          <a:noFill/>
          <a:ln w="12700">
            <a:solidFill>
              <a:srgbClr val="3A5B6E"/>
            </a:solidFill>
            <a:prstDash val="solid"/>
          </a:ln>
        </p:spPr>
      </p:sp>
      <p:sp>
        <p:nvSpPr>
          <p:cNvPr id="1048584" name="Text 8"/>
          <p:cNvSpPr/>
          <p:nvPr/>
        </p:nvSpPr>
        <p:spPr>
          <a:xfrm>
            <a:off x="822960" y="4572000"/>
            <a:ext cx="7315200" cy="320040"/>
          </a:xfrm>
          <a:prstGeom prst="rect">
            <a:avLst/>
          </a:prstGeom>
          <a:noFill/>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Prepared by: </a:t>
            </a:r>
            <a:r>
              <a:rPr lang="en-US" sz="2400" b="1" dirty="0">
                <a:solidFill>
                  <a:srgbClr val="CADCE6"/>
                </a:solidFill>
                <a:latin typeface="Calibri" pitchFamily="34" charset="0"/>
                <a:ea typeface="Calibri" pitchFamily="34" charset="-122"/>
                <a:cs typeface="Calibri" pitchFamily="34" charset="-120"/>
              </a:rPr>
              <a:t>INNOVATHERS (Group 13)</a:t>
            </a:r>
            <a:endParaRPr lang="en-US" sz="2400" b="1" dirty="0"/>
          </a:p>
        </p:txBody>
      </p:sp>
      <p:sp>
        <p:nvSpPr>
          <p:cNvPr id="1048585" name="Text 9"/>
          <p:cNvSpPr/>
          <p:nvPr/>
        </p:nvSpPr>
        <p:spPr>
          <a:xfrm>
            <a:off x="822960" y="4892040"/>
            <a:ext cx="7315200" cy="320040"/>
          </a:xfrm>
          <a:prstGeom prst="rect">
            <a:avLst/>
          </a:prstGeom>
          <a:noFill/>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Final Project Report — Submission Date: </a:t>
            </a:r>
            <a:r>
              <a:rPr lang="en-US" sz="1600" dirty="0">
                <a:solidFill>
                  <a:srgbClr val="CADCE6"/>
                </a:solidFill>
                <a:latin typeface="Calibri" pitchFamily="34" charset="0"/>
                <a:ea typeface="Calibri" pitchFamily="34" charset="-122"/>
                <a:cs typeface="Calibri" pitchFamily="34" charset="-120"/>
              </a:rPr>
              <a:t>Tuesday, July 7,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48589"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OVERVIEW</a:t>
            </a:r>
            <a:endParaRPr lang="en-US" sz="1300" dirty="0"/>
          </a:p>
        </p:txBody>
      </p:sp>
      <p:sp>
        <p:nvSpPr>
          <p:cNvPr id="1048590"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Executive Summary</a:t>
            </a:r>
            <a:endParaRPr lang="en-US" sz="3000" dirty="0"/>
          </a:p>
        </p:txBody>
      </p:sp>
      <p:sp>
        <p:nvSpPr>
          <p:cNvPr id="1048591" name="Text 2"/>
          <p:cNvSpPr/>
          <p:nvPr/>
        </p:nvSpPr>
        <p:spPr>
          <a:xfrm>
            <a:off x="548640" y="1554480"/>
            <a:ext cx="6492240" cy="1554480"/>
          </a:xfrm>
          <a:prstGeom prst="rect">
            <a:avLst/>
          </a:prstGeom>
          <a:noFill/>
        </p:spPr>
        <p:txBody>
          <a:bodyPr wrap="square" lIns="0" tIns="0" rIns="0" bIns="0" rtlCol="0" anchor="ctr"/>
          <a:lstStyle/>
          <a:p>
            <a:pPr marL="0" indent="0">
              <a:lnSpc>
                <a:spcPct val="125000"/>
              </a:lnSpc>
              <a:buNone/>
            </a:pPr>
            <a:r>
              <a:rPr lang="en-US" sz="1450" dirty="0">
                <a:solidFill>
                  <a:srgbClr val="1E293B"/>
                </a:solidFill>
                <a:latin typeface="Calibri" pitchFamily="34" charset="0"/>
                <a:ea typeface="Calibri" pitchFamily="34" charset="-122"/>
                <a:cs typeface="Calibri" pitchFamily="34" charset="-120"/>
              </a:rPr>
              <a:t>Student dropout is a persistent challenge in higher education, affecting academic success, institutional performance, and long-term career opportunities. This project builds a data-driven Early Warning System to help academic advisors identify at-risk students before they withdraw.</a:t>
            </a:r>
            <a:endParaRPr lang="en-US" sz="1450" dirty="0"/>
          </a:p>
        </p:txBody>
      </p:sp>
      <p:sp>
        <p:nvSpPr>
          <p:cNvPr id="1048592" name="Text 3"/>
          <p:cNvSpPr/>
          <p:nvPr/>
        </p:nvSpPr>
        <p:spPr>
          <a:xfrm>
            <a:off x="548640" y="3063240"/>
            <a:ext cx="6492240" cy="1554480"/>
          </a:xfrm>
          <a:prstGeom prst="rect">
            <a:avLst/>
          </a:prstGeom>
          <a:noFill/>
        </p:spPr>
        <p:txBody>
          <a:bodyPr wrap="square" lIns="0" tIns="0" rIns="0" bIns="0" rtlCol="0" anchor="ctr"/>
          <a:lstStyle/>
          <a:p>
            <a:pPr marL="0" indent="0">
              <a:lnSpc>
                <a:spcPct val="125000"/>
              </a:lnSpc>
              <a:buNone/>
            </a:pPr>
            <a:r>
              <a:rPr lang="en-US" sz="1450" dirty="0">
                <a:solidFill>
                  <a:srgbClr val="1E293B"/>
                </a:solidFill>
                <a:latin typeface="Calibri" pitchFamily="34" charset="0"/>
                <a:ea typeface="Calibri" pitchFamily="34" charset="-122"/>
                <a:cs typeface="Calibri" pitchFamily="34" charset="-120"/>
              </a:rPr>
              <a:t>Using a 9,500-record student dataset, the team analyzed behavioral, academic, and demographic predictors of dropout, built a classification model to score dropout likelihood, and designed a risk dashboard with tiered (Low / Medium / High) outputs alongside a non-punitive advisor intervention guide.</a:t>
            </a:r>
            <a:endParaRPr lang="en-US" sz="1450" dirty="0"/>
          </a:p>
        </p:txBody>
      </p:sp>
      <p:sp>
        <p:nvSpPr>
          <p:cNvPr id="1048593" name="Shape 4"/>
          <p:cNvSpPr/>
          <p:nvPr/>
        </p:nvSpPr>
        <p:spPr>
          <a:xfrm>
            <a:off x="7406640" y="1554480"/>
            <a:ext cx="4206240" cy="1371600"/>
          </a:xfrm>
          <a:prstGeom prst="roundRect">
            <a:avLst>
              <a:gd name="adj" fmla="val 6000"/>
            </a:avLst>
          </a:prstGeom>
          <a:solidFill>
            <a:srgbClr val="EEF5F6"/>
          </a:solidFill>
          <a:effectLst>
            <a:outerShdw blurRad="101600" dist="25400" dir="5400000" algn="bl" rotWithShape="0">
              <a:srgbClr val="000000">
                <a:alpha val="8000"/>
              </a:srgbClr>
            </a:outerShdw>
          </a:effectLst>
        </p:spPr>
      </p:sp>
      <p:sp>
        <p:nvSpPr>
          <p:cNvPr id="1048594" name="Text 5"/>
          <p:cNvSpPr/>
          <p:nvPr/>
        </p:nvSpPr>
        <p:spPr>
          <a:xfrm>
            <a:off x="7680960" y="1691640"/>
            <a:ext cx="3657600" cy="685800"/>
          </a:xfrm>
          <a:prstGeom prst="rect">
            <a:avLst/>
          </a:prstGeom>
          <a:noFill/>
        </p:spPr>
        <p:txBody>
          <a:bodyPr wrap="square" lIns="0" tIns="0" rIns="0" bIns="0" rtlCol="0" anchor="ctr"/>
          <a:lstStyle/>
          <a:p>
            <a:pPr marL="0" indent="0">
              <a:buNone/>
            </a:pPr>
            <a:r>
              <a:rPr lang="en-US" sz="3400" b="1" dirty="0">
                <a:solidFill>
                  <a:srgbClr val="16324A"/>
                </a:solidFill>
                <a:latin typeface="Cambria" pitchFamily="34" charset="0"/>
                <a:ea typeface="Cambria" pitchFamily="34" charset="-122"/>
                <a:cs typeface="Cambria" pitchFamily="34" charset="-120"/>
              </a:rPr>
              <a:t>9,500</a:t>
            </a:r>
            <a:endParaRPr lang="en-US" sz="3400" dirty="0"/>
          </a:p>
        </p:txBody>
      </p:sp>
      <p:sp>
        <p:nvSpPr>
          <p:cNvPr id="1048595" name="Text 6"/>
          <p:cNvSpPr/>
          <p:nvPr/>
        </p:nvSpPr>
        <p:spPr>
          <a:xfrm>
            <a:off x="7680960" y="2423160"/>
            <a:ext cx="3657600" cy="411480"/>
          </a:xfrm>
          <a:prstGeom prst="rect">
            <a:avLst/>
          </a:prstGeom>
          <a:noFill/>
        </p:spPr>
        <p:txBody>
          <a:bodyPr wrap="square" lIns="0" tIns="0" rIns="0" bIns="0" rtlCol="0" anchor="ctr"/>
          <a:lstStyle/>
          <a:p>
            <a:pPr marL="0" indent="0">
              <a:buNone/>
            </a:pPr>
            <a:r>
              <a:rPr lang="en-US" sz="1250" dirty="0">
                <a:solidFill>
                  <a:srgbClr val="5B7280"/>
                </a:solidFill>
                <a:latin typeface="Calibri" pitchFamily="34" charset="0"/>
                <a:ea typeface="Calibri" pitchFamily="34" charset="-122"/>
                <a:cs typeface="Calibri" pitchFamily="34" charset="-120"/>
              </a:rPr>
              <a:t>Student records analyzed</a:t>
            </a:r>
            <a:endParaRPr lang="en-US" sz="1250" dirty="0"/>
          </a:p>
        </p:txBody>
      </p:sp>
      <p:sp>
        <p:nvSpPr>
          <p:cNvPr id="1048596" name="Shape 7"/>
          <p:cNvSpPr/>
          <p:nvPr/>
        </p:nvSpPr>
        <p:spPr>
          <a:xfrm>
            <a:off x="7406640" y="3108960"/>
            <a:ext cx="4206240" cy="1371600"/>
          </a:xfrm>
          <a:prstGeom prst="roundRect">
            <a:avLst>
              <a:gd name="adj" fmla="val 6000"/>
            </a:avLst>
          </a:prstGeom>
          <a:solidFill>
            <a:srgbClr val="EEF5F6"/>
          </a:solidFill>
          <a:effectLst>
            <a:outerShdw blurRad="101600" dist="25400" dir="5400000" algn="bl" rotWithShape="0">
              <a:srgbClr val="000000">
                <a:alpha val="8000"/>
              </a:srgbClr>
            </a:outerShdw>
          </a:effectLst>
        </p:spPr>
      </p:sp>
      <p:sp>
        <p:nvSpPr>
          <p:cNvPr id="1048597" name="Text 8"/>
          <p:cNvSpPr/>
          <p:nvPr/>
        </p:nvSpPr>
        <p:spPr>
          <a:xfrm>
            <a:off x="7680960" y="3246120"/>
            <a:ext cx="3657600" cy="685800"/>
          </a:xfrm>
          <a:prstGeom prst="rect">
            <a:avLst/>
          </a:prstGeom>
          <a:noFill/>
        </p:spPr>
        <p:txBody>
          <a:bodyPr wrap="square" lIns="0" tIns="0" rIns="0" bIns="0" rtlCol="0" anchor="ctr"/>
          <a:lstStyle/>
          <a:p>
            <a:pPr marL="0" indent="0">
              <a:buNone/>
            </a:pPr>
            <a:r>
              <a:rPr lang="en-US" sz="3400" b="1" dirty="0">
                <a:solidFill>
                  <a:srgbClr val="16324A"/>
                </a:solidFill>
                <a:latin typeface="Cambria" pitchFamily="34" charset="0"/>
                <a:ea typeface="Cambria" pitchFamily="34" charset="-122"/>
                <a:cs typeface="Cambria" pitchFamily="34" charset="-120"/>
              </a:rPr>
              <a:t>23.6%</a:t>
            </a:r>
            <a:endParaRPr lang="en-US" sz="3400" dirty="0"/>
          </a:p>
        </p:txBody>
      </p:sp>
      <p:sp>
        <p:nvSpPr>
          <p:cNvPr id="1048598" name="Text 9"/>
          <p:cNvSpPr/>
          <p:nvPr/>
        </p:nvSpPr>
        <p:spPr>
          <a:xfrm>
            <a:off x="7680960" y="3977640"/>
            <a:ext cx="3657600" cy="411480"/>
          </a:xfrm>
          <a:prstGeom prst="rect">
            <a:avLst/>
          </a:prstGeom>
          <a:noFill/>
        </p:spPr>
        <p:txBody>
          <a:bodyPr wrap="square" lIns="0" tIns="0" rIns="0" bIns="0" rtlCol="0" anchor="ctr"/>
          <a:lstStyle/>
          <a:p>
            <a:pPr marL="0" indent="0">
              <a:buNone/>
            </a:pPr>
            <a:r>
              <a:rPr lang="en-US" sz="1250" dirty="0">
                <a:solidFill>
                  <a:srgbClr val="5B7280"/>
                </a:solidFill>
                <a:latin typeface="Calibri" pitchFamily="34" charset="0"/>
                <a:ea typeface="Calibri" pitchFamily="34" charset="-122"/>
                <a:cs typeface="Calibri" pitchFamily="34" charset="-120"/>
              </a:rPr>
              <a:t>Overall dropout rate</a:t>
            </a:r>
            <a:endParaRPr lang="en-US" sz="1250" dirty="0"/>
          </a:p>
        </p:txBody>
      </p:sp>
      <p:sp>
        <p:nvSpPr>
          <p:cNvPr id="1048599" name="Shape 10"/>
          <p:cNvSpPr/>
          <p:nvPr/>
        </p:nvSpPr>
        <p:spPr>
          <a:xfrm>
            <a:off x="7406640" y="4663440"/>
            <a:ext cx="4206240" cy="1371600"/>
          </a:xfrm>
          <a:prstGeom prst="roundRect">
            <a:avLst>
              <a:gd name="adj" fmla="val 6000"/>
            </a:avLst>
          </a:prstGeom>
          <a:solidFill>
            <a:srgbClr val="EEF5F6"/>
          </a:solidFill>
          <a:effectLst>
            <a:outerShdw blurRad="101600" dist="25400" dir="5400000" algn="bl" rotWithShape="0">
              <a:srgbClr val="000000">
                <a:alpha val="8000"/>
              </a:srgbClr>
            </a:outerShdw>
          </a:effectLst>
        </p:spPr>
      </p:sp>
      <p:sp>
        <p:nvSpPr>
          <p:cNvPr id="1048600" name="Text 11"/>
          <p:cNvSpPr/>
          <p:nvPr/>
        </p:nvSpPr>
        <p:spPr>
          <a:xfrm>
            <a:off x="7680960" y="4800600"/>
            <a:ext cx="3657600" cy="685800"/>
          </a:xfrm>
          <a:prstGeom prst="rect">
            <a:avLst/>
          </a:prstGeom>
          <a:noFill/>
        </p:spPr>
        <p:txBody>
          <a:bodyPr wrap="square" lIns="0" tIns="0" rIns="0" bIns="0" rtlCol="0" anchor="ctr"/>
          <a:lstStyle/>
          <a:p>
            <a:pPr marL="0" indent="0">
              <a:buNone/>
            </a:pPr>
            <a:r>
              <a:rPr lang="en-US" sz="3400" b="1" dirty="0">
                <a:solidFill>
                  <a:srgbClr val="16324A"/>
                </a:solidFill>
                <a:latin typeface="Cambria" pitchFamily="34" charset="0"/>
                <a:ea typeface="Cambria" pitchFamily="34" charset="-122"/>
                <a:cs typeface="Cambria" pitchFamily="34" charset="-120"/>
              </a:rPr>
              <a:t>19</a:t>
            </a:r>
            <a:endParaRPr lang="en-US" sz="3400" dirty="0"/>
          </a:p>
        </p:txBody>
      </p:sp>
      <p:sp>
        <p:nvSpPr>
          <p:cNvPr id="1048601" name="Text 12"/>
          <p:cNvSpPr/>
          <p:nvPr/>
        </p:nvSpPr>
        <p:spPr>
          <a:xfrm>
            <a:off x="7680960" y="5532120"/>
            <a:ext cx="3657600" cy="411480"/>
          </a:xfrm>
          <a:prstGeom prst="rect">
            <a:avLst/>
          </a:prstGeom>
          <a:noFill/>
        </p:spPr>
        <p:txBody>
          <a:bodyPr wrap="square" lIns="0" tIns="0" rIns="0" bIns="0" rtlCol="0" anchor="ctr"/>
          <a:lstStyle/>
          <a:p>
            <a:pPr marL="0" indent="0">
              <a:buNone/>
            </a:pPr>
            <a:r>
              <a:rPr lang="en-US" sz="1250" dirty="0">
                <a:solidFill>
                  <a:srgbClr val="5B7280"/>
                </a:solidFill>
                <a:latin typeface="Calibri" pitchFamily="34" charset="0"/>
                <a:ea typeface="Calibri" pitchFamily="34" charset="-122"/>
                <a:cs typeface="Calibri" pitchFamily="34" charset="-120"/>
              </a:rPr>
              <a:t>Behavioral, academic &amp; demographic variables</a:t>
            </a:r>
            <a:endParaRPr lang="en-US" sz="1250" dirty="0"/>
          </a:p>
        </p:txBody>
      </p:sp>
      <p:sp>
        <p:nvSpPr>
          <p:cNvPr id="1048602" name="Text 13"/>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603" name="Text 14"/>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048607"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PROJECT BACKGROUND</a:t>
            </a:r>
            <a:endParaRPr lang="en-US" sz="1300" dirty="0"/>
          </a:p>
        </p:txBody>
      </p:sp>
      <p:sp>
        <p:nvSpPr>
          <p:cNvPr id="1048608"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Problem Statement &amp; Objectives</a:t>
            </a:r>
            <a:endParaRPr lang="en-US" sz="3000" dirty="0"/>
          </a:p>
        </p:txBody>
      </p:sp>
      <p:sp>
        <p:nvSpPr>
          <p:cNvPr id="1048609" name="Shape 2"/>
          <p:cNvSpPr/>
          <p:nvPr/>
        </p:nvSpPr>
        <p:spPr>
          <a:xfrm>
            <a:off x="548640" y="1508760"/>
            <a:ext cx="5394960" cy="4663440"/>
          </a:xfrm>
          <a:prstGeom prst="roundRect">
            <a:avLst>
              <a:gd name="adj" fmla="val 1961"/>
            </a:avLst>
          </a:prstGeom>
          <a:solidFill>
            <a:srgbClr val="EEF5F6"/>
          </a:solidFill>
        </p:spPr>
      </p:sp>
      <p:sp>
        <p:nvSpPr>
          <p:cNvPr id="1048610" name="Shape 3"/>
          <p:cNvSpPr/>
          <p:nvPr/>
        </p:nvSpPr>
        <p:spPr>
          <a:xfrm>
            <a:off x="868680" y="1783080"/>
            <a:ext cx="548640" cy="548640"/>
          </a:xfrm>
          <a:prstGeom prst="ellipse">
            <a:avLst/>
          </a:prstGeom>
          <a:solidFill>
            <a:srgbClr val="FFFFFF"/>
          </a:solidFill>
        </p:spPr>
      </p:sp>
      <p:pic>
        <p:nvPicPr>
          <p:cNvPr id="2097153" name="Image 0" descr="preencoded.png"/>
          <p:cNvPicPr>
            <a:picLocks noChangeAspect="1"/>
          </p:cNvPicPr>
          <p:nvPr/>
        </p:nvPicPr>
        <p:blipFill>
          <a:blip r:embed="rId3"/>
          <a:stretch>
            <a:fillRect/>
          </a:stretch>
        </p:blipFill>
        <p:spPr>
          <a:xfrm>
            <a:off x="1011326" y="1925726"/>
            <a:ext cx="263347" cy="263347"/>
          </a:xfrm>
          <a:prstGeom prst="rect">
            <a:avLst/>
          </a:prstGeom>
        </p:spPr>
      </p:pic>
      <p:sp>
        <p:nvSpPr>
          <p:cNvPr id="1048611" name="Text 4"/>
          <p:cNvSpPr/>
          <p:nvPr/>
        </p:nvSpPr>
        <p:spPr>
          <a:xfrm>
            <a:off x="1600200" y="1810512"/>
            <a:ext cx="4114800" cy="457200"/>
          </a:xfrm>
          <a:prstGeom prst="rect">
            <a:avLst/>
          </a:prstGeom>
          <a:noFill/>
        </p:spPr>
        <p:txBody>
          <a:bodyPr wrap="square" lIns="0" tIns="0" rIns="0" bIns="0"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The Problem</a:t>
            </a:r>
            <a:endParaRPr lang="en-US" sz="1700" dirty="0"/>
          </a:p>
        </p:txBody>
      </p:sp>
      <p:sp>
        <p:nvSpPr>
          <p:cNvPr id="1048612" name="Text 5"/>
          <p:cNvSpPr/>
          <p:nvPr/>
        </p:nvSpPr>
        <p:spPr>
          <a:xfrm>
            <a:off x="868680" y="2423160"/>
            <a:ext cx="4754880" cy="1188720"/>
          </a:xfrm>
          <a:prstGeom prst="rect">
            <a:avLst/>
          </a:prstGeom>
          <a:noFill/>
        </p:spPr>
        <p:txBody>
          <a:bodyPr wrap="square" lIns="0" tIns="0" rIns="0" bIns="0" rtlCol="0" anchor="ctr"/>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Many students who eventually withdraw show measurable warning signs — declining grades, poor attendance, rising stress — well before they leave, yet institutions rarely have a systematic way to detect these signs in time to intervene.</a:t>
            </a:r>
            <a:endParaRPr lang="en-US" sz="1300" dirty="0"/>
          </a:p>
        </p:txBody>
      </p:sp>
      <p:sp>
        <p:nvSpPr>
          <p:cNvPr id="1048613" name="Text 6"/>
          <p:cNvSpPr/>
          <p:nvPr/>
        </p:nvSpPr>
        <p:spPr>
          <a:xfrm>
            <a:off x="868680" y="3611880"/>
            <a:ext cx="4754880" cy="914400"/>
          </a:xfrm>
          <a:prstGeom prst="rect">
            <a:avLst/>
          </a:prstGeom>
          <a:noFill/>
        </p:spPr>
        <p:txBody>
          <a:bodyPr wrap="square" lIns="0" tIns="0" rIns="0" bIns="0" rtlCol="0" anchor="ctr"/>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This project closes that gap by identifying the strongest predictors of dropout and surfacing at-risk students early enough for advisors to take meaningful, non-punitive action.</a:t>
            </a:r>
            <a:endParaRPr lang="en-US" sz="1300" dirty="0"/>
          </a:p>
        </p:txBody>
      </p:sp>
      <p:sp>
        <p:nvSpPr>
          <p:cNvPr id="1048614" name="Text 7"/>
          <p:cNvSpPr/>
          <p:nvPr/>
        </p:nvSpPr>
        <p:spPr>
          <a:xfrm>
            <a:off x="868680" y="4617720"/>
            <a:ext cx="4754880" cy="1371600"/>
          </a:xfrm>
          <a:prstGeom prst="rect">
            <a:avLst/>
          </a:prstGeom>
          <a:noFill/>
        </p:spPr>
        <p:txBody>
          <a:bodyPr wrap="square" lIns="0" tIns="0" rIns="0" bIns="0" rtlCol="0" anchor="ctr"/>
          <a:lstStyle/>
          <a:p>
            <a:pPr marL="0" indent="0">
              <a:lnSpc>
                <a:spcPct val="115000"/>
              </a:lnSpc>
              <a:buNone/>
            </a:pPr>
            <a:r>
              <a:rPr lang="en-US" sz="1300" b="1" dirty="0">
                <a:solidFill>
                  <a:srgbClr val="1C7293"/>
                </a:solidFill>
                <a:latin typeface="Calibri" pitchFamily="34" charset="0"/>
                <a:ea typeface="Calibri" pitchFamily="34" charset="-122"/>
                <a:cs typeface="Calibri" pitchFamily="34" charset="-120"/>
              </a:rPr>
              <a:t>SDG 4 — Quality Education</a:t>
            </a:r>
            <a:endParaRPr lang="en-US" sz="1300" dirty="0"/>
          </a:p>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Improving completion rates.</a:t>
            </a:r>
            <a:endParaRPr lang="en-US" sz="1300" dirty="0"/>
          </a:p>
          <a:p>
            <a:pPr marL="0" indent="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nSpc>
                <a:spcPct val="115000"/>
              </a:lnSpc>
              <a:buNone/>
            </a:pPr>
            <a:r>
              <a:rPr lang="en-US" sz="1300" b="1" dirty="0">
                <a:solidFill>
                  <a:srgbClr val="1C7293"/>
                </a:solidFill>
                <a:latin typeface="Calibri" pitchFamily="34" charset="0"/>
                <a:ea typeface="Calibri" pitchFamily="34" charset="-122"/>
                <a:cs typeface="Calibri" pitchFamily="34" charset="-120"/>
              </a:rPr>
              <a:t>SDG 10 — Reduced Inequalities</a:t>
            </a:r>
            <a:endParaRPr lang="en-US" sz="1300" dirty="0"/>
          </a:p>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Highlighting how socio-economic factors disproportionately drive dropout risk.</a:t>
            </a:r>
            <a:endParaRPr lang="en-US" sz="1300" dirty="0"/>
          </a:p>
        </p:txBody>
      </p:sp>
      <p:sp>
        <p:nvSpPr>
          <p:cNvPr id="1048615" name="Text 8"/>
          <p:cNvSpPr/>
          <p:nvPr/>
        </p:nvSpPr>
        <p:spPr>
          <a:xfrm>
            <a:off x="6309360" y="1554480"/>
            <a:ext cx="5303520" cy="411480"/>
          </a:xfrm>
          <a:prstGeom prst="rect">
            <a:avLst/>
          </a:prstGeom>
          <a:noFill/>
        </p:spPr>
        <p:txBody>
          <a:bodyPr wrap="square" lIns="0" tIns="0" rIns="0" bIns="0"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Objectives</a:t>
            </a:r>
            <a:endParaRPr lang="en-US" sz="1700" dirty="0"/>
          </a:p>
        </p:txBody>
      </p:sp>
      <p:sp>
        <p:nvSpPr>
          <p:cNvPr id="1048616" name="Shape 9"/>
          <p:cNvSpPr/>
          <p:nvPr/>
        </p:nvSpPr>
        <p:spPr>
          <a:xfrm>
            <a:off x="6309360" y="2148840"/>
            <a:ext cx="384048" cy="384048"/>
          </a:xfrm>
          <a:prstGeom prst="ellipse">
            <a:avLst/>
          </a:prstGeom>
          <a:solidFill>
            <a:srgbClr val="1C7293"/>
          </a:solidFill>
        </p:spPr>
      </p:sp>
      <p:pic>
        <p:nvPicPr>
          <p:cNvPr id="2097154" name="Image 1" descr="preencoded.png"/>
          <p:cNvPicPr>
            <a:picLocks noChangeAspect="1"/>
          </p:cNvPicPr>
          <p:nvPr/>
        </p:nvPicPr>
        <p:blipFill>
          <a:blip r:embed="rId4"/>
          <a:stretch>
            <a:fillRect/>
          </a:stretch>
        </p:blipFill>
        <p:spPr>
          <a:xfrm>
            <a:off x="6409212" y="2248692"/>
            <a:ext cx="184343" cy="184343"/>
          </a:xfrm>
          <a:prstGeom prst="rect">
            <a:avLst/>
          </a:prstGeom>
        </p:spPr>
      </p:pic>
      <p:sp>
        <p:nvSpPr>
          <p:cNvPr id="1048617" name="Text 10"/>
          <p:cNvSpPr/>
          <p:nvPr/>
        </p:nvSpPr>
        <p:spPr>
          <a:xfrm>
            <a:off x="6858000" y="2130552"/>
            <a:ext cx="4754880" cy="822960"/>
          </a:xfrm>
          <a:prstGeom prst="rect">
            <a:avLst/>
          </a:prstGeom>
          <a:noFill/>
        </p:spPr>
        <p:txBody>
          <a:bodyPr wrap="square" lIns="0" tIns="0" rIns="0" bIns="0" rtlCol="0" anchor="t"/>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Analyze the student dataset to identify the strongest behavioral, academic, and demographic predictors of dropout.</a:t>
            </a:r>
            <a:endParaRPr lang="en-US" sz="1250" dirty="0"/>
          </a:p>
        </p:txBody>
      </p:sp>
      <p:sp>
        <p:nvSpPr>
          <p:cNvPr id="1048618" name="Shape 11"/>
          <p:cNvSpPr/>
          <p:nvPr/>
        </p:nvSpPr>
        <p:spPr>
          <a:xfrm>
            <a:off x="6309360" y="3200400"/>
            <a:ext cx="384048" cy="384048"/>
          </a:xfrm>
          <a:prstGeom prst="ellipse">
            <a:avLst/>
          </a:prstGeom>
          <a:solidFill>
            <a:srgbClr val="1C7293"/>
          </a:solidFill>
        </p:spPr>
      </p:sp>
      <p:pic>
        <p:nvPicPr>
          <p:cNvPr id="2097155" name="Image 2" descr="preencoded.png"/>
          <p:cNvPicPr>
            <a:picLocks noChangeAspect="1"/>
          </p:cNvPicPr>
          <p:nvPr/>
        </p:nvPicPr>
        <p:blipFill>
          <a:blip r:embed="rId4"/>
          <a:stretch>
            <a:fillRect/>
          </a:stretch>
        </p:blipFill>
        <p:spPr>
          <a:xfrm>
            <a:off x="6409212" y="3300252"/>
            <a:ext cx="184343" cy="184343"/>
          </a:xfrm>
          <a:prstGeom prst="rect">
            <a:avLst/>
          </a:prstGeom>
        </p:spPr>
      </p:pic>
      <p:sp>
        <p:nvSpPr>
          <p:cNvPr id="1048619" name="Text 12"/>
          <p:cNvSpPr/>
          <p:nvPr/>
        </p:nvSpPr>
        <p:spPr>
          <a:xfrm>
            <a:off x="6858000" y="3182112"/>
            <a:ext cx="4754880" cy="822960"/>
          </a:xfrm>
          <a:prstGeom prst="rect">
            <a:avLst/>
          </a:prstGeom>
          <a:noFill/>
        </p:spPr>
        <p:txBody>
          <a:bodyPr wrap="square" lIns="0" tIns="0" rIns="0" bIns="0" rtlCol="0" anchor="t"/>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Identify the factors associated with student dropout.</a:t>
            </a:r>
            <a:endParaRPr lang="en-US" sz="1250" dirty="0"/>
          </a:p>
        </p:txBody>
      </p:sp>
      <p:sp>
        <p:nvSpPr>
          <p:cNvPr id="1048620" name="Shape 13"/>
          <p:cNvSpPr/>
          <p:nvPr/>
        </p:nvSpPr>
        <p:spPr>
          <a:xfrm>
            <a:off x="6309360" y="4251960"/>
            <a:ext cx="384048" cy="384048"/>
          </a:xfrm>
          <a:prstGeom prst="ellipse">
            <a:avLst/>
          </a:prstGeom>
          <a:solidFill>
            <a:srgbClr val="1C7293"/>
          </a:solidFill>
        </p:spPr>
      </p:sp>
      <p:pic>
        <p:nvPicPr>
          <p:cNvPr id="2097156" name="Image 3" descr="preencoded.png"/>
          <p:cNvPicPr>
            <a:picLocks noChangeAspect="1"/>
          </p:cNvPicPr>
          <p:nvPr/>
        </p:nvPicPr>
        <p:blipFill>
          <a:blip r:embed="rId4"/>
          <a:stretch>
            <a:fillRect/>
          </a:stretch>
        </p:blipFill>
        <p:spPr>
          <a:xfrm>
            <a:off x="6409212" y="4351812"/>
            <a:ext cx="184343" cy="184343"/>
          </a:xfrm>
          <a:prstGeom prst="rect">
            <a:avLst/>
          </a:prstGeom>
        </p:spPr>
      </p:pic>
      <p:sp>
        <p:nvSpPr>
          <p:cNvPr id="1048621" name="Text 14"/>
          <p:cNvSpPr/>
          <p:nvPr/>
        </p:nvSpPr>
        <p:spPr>
          <a:xfrm>
            <a:off x="6858000" y="4233672"/>
            <a:ext cx="4754880" cy="822960"/>
          </a:xfrm>
          <a:prstGeom prst="rect">
            <a:avLst/>
          </a:prstGeom>
          <a:noFill/>
        </p:spPr>
        <p:txBody>
          <a:bodyPr wrap="square" lIns="0" tIns="0" rIns="0" bIns="0" rtlCol="0" anchor="t"/>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Design a risk dashboard presenting each student's risk score, key contributing factors, and risk tier (Low / Medium / High).</a:t>
            </a:r>
            <a:endParaRPr lang="en-US" sz="1250" dirty="0"/>
          </a:p>
        </p:txBody>
      </p:sp>
      <p:sp>
        <p:nvSpPr>
          <p:cNvPr id="1048622" name="Shape 15"/>
          <p:cNvSpPr/>
          <p:nvPr/>
        </p:nvSpPr>
        <p:spPr>
          <a:xfrm>
            <a:off x="6309360" y="5303520"/>
            <a:ext cx="384048" cy="384048"/>
          </a:xfrm>
          <a:prstGeom prst="ellipse">
            <a:avLst/>
          </a:prstGeom>
          <a:solidFill>
            <a:srgbClr val="1C7293"/>
          </a:solidFill>
        </p:spPr>
      </p:sp>
      <p:pic>
        <p:nvPicPr>
          <p:cNvPr id="2097157" name="Image 4" descr="preencoded.png"/>
          <p:cNvPicPr>
            <a:picLocks noChangeAspect="1"/>
          </p:cNvPicPr>
          <p:nvPr/>
        </p:nvPicPr>
        <p:blipFill>
          <a:blip r:embed="rId4"/>
          <a:stretch>
            <a:fillRect/>
          </a:stretch>
        </p:blipFill>
        <p:spPr>
          <a:xfrm>
            <a:off x="6409212" y="5403372"/>
            <a:ext cx="184343" cy="184343"/>
          </a:xfrm>
          <a:prstGeom prst="rect">
            <a:avLst/>
          </a:prstGeom>
        </p:spPr>
      </p:pic>
      <p:sp>
        <p:nvSpPr>
          <p:cNvPr id="1048623" name="Text 16"/>
          <p:cNvSpPr/>
          <p:nvPr/>
        </p:nvSpPr>
        <p:spPr>
          <a:xfrm>
            <a:off x="6858000" y="5285232"/>
            <a:ext cx="4754880" cy="822960"/>
          </a:xfrm>
          <a:prstGeom prst="rect">
            <a:avLst/>
          </a:prstGeom>
          <a:noFill/>
        </p:spPr>
        <p:txBody>
          <a:bodyPr wrap="square" lIns="0" tIns="0" rIns="0" bIns="0" rtlCol="0" anchor="t"/>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Deliver a documented, demo-ready solution by the end of project week, with transparent AI tool usage disclosure.</a:t>
            </a:r>
            <a:endParaRPr lang="en-US" sz="1250" dirty="0"/>
          </a:p>
        </p:txBody>
      </p:sp>
      <p:sp>
        <p:nvSpPr>
          <p:cNvPr id="1048624" name="Text 17"/>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625" name="Text 18"/>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048629"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PROJECT BACKGROUND</a:t>
            </a:r>
            <a:endParaRPr lang="en-US" sz="1300" dirty="0"/>
          </a:p>
        </p:txBody>
      </p:sp>
      <p:sp>
        <p:nvSpPr>
          <p:cNvPr id="1048630"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Project Scope</a:t>
            </a:r>
            <a:endParaRPr lang="en-US" sz="3000" dirty="0"/>
          </a:p>
        </p:txBody>
      </p:sp>
      <p:sp>
        <p:nvSpPr>
          <p:cNvPr id="1048631" name="Shape 2"/>
          <p:cNvSpPr/>
          <p:nvPr/>
        </p:nvSpPr>
        <p:spPr>
          <a:xfrm>
            <a:off x="548640" y="1554480"/>
            <a:ext cx="5440680" cy="4617720"/>
          </a:xfrm>
          <a:prstGeom prst="roundRect">
            <a:avLst>
              <a:gd name="adj" fmla="val 1980"/>
            </a:avLst>
          </a:prstGeom>
          <a:solidFill>
            <a:srgbClr val="FFFFFF"/>
          </a:solidFill>
          <a:ln w="12700">
            <a:solidFill>
              <a:srgbClr val="DCE7E9"/>
            </a:solidFill>
            <a:prstDash val="solid"/>
          </a:ln>
          <a:effectLst>
            <a:outerShdw blurRad="127000" dist="25400" dir="5400000" algn="bl" rotWithShape="0">
              <a:srgbClr val="000000">
                <a:alpha val="8000"/>
              </a:srgbClr>
            </a:outerShdw>
          </a:effectLst>
        </p:spPr>
      </p:sp>
      <p:sp>
        <p:nvSpPr>
          <p:cNvPr id="1048632" name="Shape 3"/>
          <p:cNvSpPr/>
          <p:nvPr/>
        </p:nvSpPr>
        <p:spPr>
          <a:xfrm>
            <a:off x="868680" y="1810512"/>
            <a:ext cx="502920" cy="502920"/>
          </a:xfrm>
          <a:prstGeom prst="ellipse">
            <a:avLst/>
          </a:prstGeom>
          <a:solidFill>
            <a:srgbClr val="3EC1B3"/>
          </a:solidFill>
        </p:spPr>
      </p:sp>
      <p:pic>
        <p:nvPicPr>
          <p:cNvPr id="2097158" name="Image 0" descr="preencoded.png"/>
          <p:cNvPicPr>
            <a:picLocks noChangeAspect="1"/>
          </p:cNvPicPr>
          <p:nvPr/>
        </p:nvPicPr>
        <p:blipFill>
          <a:blip r:embed="rId3"/>
          <a:stretch>
            <a:fillRect/>
          </a:stretch>
        </p:blipFill>
        <p:spPr>
          <a:xfrm>
            <a:off x="999439" y="1941271"/>
            <a:ext cx="241402" cy="241402"/>
          </a:xfrm>
          <a:prstGeom prst="rect">
            <a:avLst/>
          </a:prstGeom>
        </p:spPr>
      </p:pic>
      <p:sp>
        <p:nvSpPr>
          <p:cNvPr id="1048633" name="Text 4"/>
          <p:cNvSpPr/>
          <p:nvPr/>
        </p:nvSpPr>
        <p:spPr>
          <a:xfrm>
            <a:off x="1508760" y="1847088"/>
            <a:ext cx="3657600" cy="438912"/>
          </a:xfrm>
          <a:prstGeom prst="rect">
            <a:avLst/>
          </a:prstGeom>
          <a:noFill/>
        </p:spPr>
        <p:txBody>
          <a:bodyPr wrap="square" lIns="0" tIns="0" rIns="0" bIns="0"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In Scope</a:t>
            </a:r>
            <a:endParaRPr lang="en-US" sz="1700" dirty="0"/>
          </a:p>
        </p:txBody>
      </p:sp>
      <p:sp>
        <p:nvSpPr>
          <p:cNvPr id="1048634" name="Text 5"/>
          <p:cNvSpPr/>
          <p:nvPr/>
        </p:nvSpPr>
        <p:spPr>
          <a:xfrm>
            <a:off x="868680" y="2514600"/>
            <a:ext cx="4892040" cy="5486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Data cleaning &amp; exploratory data analysis (EDA)</a:t>
            </a:r>
            <a:endParaRPr lang="en-US" sz="1250" dirty="0"/>
          </a:p>
        </p:txBody>
      </p:sp>
      <p:sp>
        <p:nvSpPr>
          <p:cNvPr id="1048635" name="Text 6"/>
          <p:cNvSpPr/>
          <p:nvPr/>
        </p:nvSpPr>
        <p:spPr>
          <a:xfrm>
            <a:off x="868680" y="3136392"/>
            <a:ext cx="4892040" cy="5486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Dropout-risk classification model with feature-importance outputs</a:t>
            </a:r>
            <a:endParaRPr lang="en-US" sz="1250" dirty="0"/>
          </a:p>
        </p:txBody>
      </p:sp>
      <p:sp>
        <p:nvSpPr>
          <p:cNvPr id="1048636" name="Text 7"/>
          <p:cNvSpPr/>
          <p:nvPr/>
        </p:nvSpPr>
        <p:spPr>
          <a:xfrm>
            <a:off x="868680" y="3758184"/>
            <a:ext cx="4892040" cy="5486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Risk dashboard (score, contributing factors, tier)</a:t>
            </a:r>
            <a:endParaRPr lang="en-US" sz="1250" dirty="0"/>
          </a:p>
        </p:txBody>
      </p:sp>
      <p:sp>
        <p:nvSpPr>
          <p:cNvPr id="1048637" name="Text 8"/>
          <p:cNvSpPr/>
          <p:nvPr/>
        </p:nvSpPr>
        <p:spPr>
          <a:xfrm>
            <a:off x="868680" y="4379976"/>
            <a:ext cx="4892040" cy="5486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Non-punitive intervention-pointer guide per risk tier</a:t>
            </a:r>
            <a:endParaRPr lang="en-US" sz="1250" dirty="0"/>
          </a:p>
        </p:txBody>
      </p:sp>
      <p:sp>
        <p:nvSpPr>
          <p:cNvPr id="1048638" name="Text 9"/>
          <p:cNvSpPr/>
          <p:nvPr/>
        </p:nvSpPr>
        <p:spPr>
          <a:xfrm>
            <a:off x="868680" y="5001768"/>
            <a:ext cx="4892040" cy="5486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Documentation of methodology, AI usage &amp; Demo Day presentation</a:t>
            </a:r>
            <a:endParaRPr lang="en-US" sz="1250" dirty="0"/>
          </a:p>
        </p:txBody>
      </p:sp>
      <p:sp>
        <p:nvSpPr>
          <p:cNvPr id="1048639" name="Shape 10"/>
          <p:cNvSpPr/>
          <p:nvPr/>
        </p:nvSpPr>
        <p:spPr>
          <a:xfrm>
            <a:off x="6172200" y="1554480"/>
            <a:ext cx="5440680" cy="4617720"/>
          </a:xfrm>
          <a:prstGeom prst="roundRect">
            <a:avLst>
              <a:gd name="adj" fmla="val 1980"/>
            </a:avLst>
          </a:prstGeom>
          <a:solidFill>
            <a:srgbClr val="FFFFFF"/>
          </a:solidFill>
          <a:ln w="12700">
            <a:solidFill>
              <a:srgbClr val="F1DCD6"/>
            </a:solidFill>
            <a:prstDash val="solid"/>
          </a:ln>
          <a:effectLst>
            <a:outerShdw blurRad="127000" dist="25400" dir="5400000" algn="bl" rotWithShape="0">
              <a:srgbClr val="000000">
                <a:alpha val="8000"/>
              </a:srgbClr>
            </a:outerShdw>
          </a:effectLst>
        </p:spPr>
      </p:sp>
      <p:sp>
        <p:nvSpPr>
          <p:cNvPr id="1048640" name="Shape 11"/>
          <p:cNvSpPr/>
          <p:nvPr/>
        </p:nvSpPr>
        <p:spPr>
          <a:xfrm>
            <a:off x="6492240" y="1810512"/>
            <a:ext cx="502920" cy="502920"/>
          </a:xfrm>
          <a:prstGeom prst="ellipse">
            <a:avLst/>
          </a:prstGeom>
          <a:solidFill>
            <a:srgbClr val="F6C6BB"/>
          </a:solidFill>
        </p:spPr>
      </p:sp>
      <p:pic>
        <p:nvPicPr>
          <p:cNvPr id="2097159" name="Image 1" descr="preencoded.png"/>
          <p:cNvPicPr>
            <a:picLocks noChangeAspect="1"/>
          </p:cNvPicPr>
          <p:nvPr/>
        </p:nvPicPr>
        <p:blipFill>
          <a:blip r:embed="rId4"/>
          <a:stretch>
            <a:fillRect/>
          </a:stretch>
        </p:blipFill>
        <p:spPr>
          <a:xfrm>
            <a:off x="6622999" y="1941271"/>
            <a:ext cx="241402" cy="241402"/>
          </a:xfrm>
          <a:prstGeom prst="rect">
            <a:avLst/>
          </a:prstGeom>
        </p:spPr>
      </p:pic>
      <p:sp>
        <p:nvSpPr>
          <p:cNvPr id="1048641" name="Text 12"/>
          <p:cNvSpPr/>
          <p:nvPr/>
        </p:nvSpPr>
        <p:spPr>
          <a:xfrm>
            <a:off x="7132320" y="1847088"/>
            <a:ext cx="4114800" cy="438912"/>
          </a:xfrm>
          <a:prstGeom prst="rect">
            <a:avLst/>
          </a:prstGeom>
          <a:noFill/>
        </p:spPr>
        <p:txBody>
          <a:bodyPr wrap="square" lIns="0" tIns="0" rIns="0" bIns="0"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Out of Scope</a:t>
            </a:r>
            <a:endParaRPr lang="en-US" sz="1700" dirty="0"/>
          </a:p>
        </p:txBody>
      </p:sp>
      <p:sp>
        <p:nvSpPr>
          <p:cNvPr id="1048642" name="Text 13"/>
          <p:cNvSpPr/>
          <p:nvPr/>
        </p:nvSpPr>
        <p:spPr>
          <a:xfrm>
            <a:off x="6492240" y="2514600"/>
            <a:ext cx="4892040" cy="7772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Integration with any live institutional Student Information System (SIS) or production deployment</a:t>
            </a:r>
            <a:endParaRPr lang="en-US" sz="1250" dirty="0"/>
          </a:p>
        </p:txBody>
      </p:sp>
      <p:sp>
        <p:nvSpPr>
          <p:cNvPr id="1048643" name="Text 14"/>
          <p:cNvSpPr/>
          <p:nvPr/>
        </p:nvSpPr>
        <p:spPr>
          <a:xfrm>
            <a:off x="6492240" y="3291840"/>
            <a:ext cx="4892040" cy="7772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Real-time data pipelines or automated refresh beyond the static dataset</a:t>
            </a:r>
            <a:endParaRPr lang="en-US" sz="1250" dirty="0"/>
          </a:p>
        </p:txBody>
      </p:sp>
      <p:sp>
        <p:nvSpPr>
          <p:cNvPr id="1048644" name="Text 15"/>
          <p:cNvSpPr/>
          <p:nvPr/>
        </p:nvSpPr>
        <p:spPr>
          <a:xfrm>
            <a:off x="6492240" y="4069080"/>
            <a:ext cx="4892040" cy="7772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Direct outreach, counselling, or intervention delivery to students (recommendations only)</a:t>
            </a:r>
            <a:endParaRPr lang="en-US" sz="1250" dirty="0"/>
          </a:p>
        </p:txBody>
      </p:sp>
      <p:sp>
        <p:nvSpPr>
          <p:cNvPr id="1048645" name="Text 16"/>
          <p:cNvSpPr/>
          <p:nvPr/>
        </p:nvSpPr>
        <p:spPr>
          <a:xfrm>
            <a:off x="6492240" y="4846320"/>
            <a:ext cx="4892040" cy="777240"/>
          </a:xfrm>
          <a:prstGeom prst="rect">
            <a:avLst/>
          </a:prstGeom>
          <a:noFill/>
        </p:spPr>
        <p:txBody>
          <a:bodyPr wrap="square" lIns="0" tIns="0" rIns="0" bIns="0" rtlCol="0" anchor="t"/>
          <a:lstStyle/>
          <a:p>
            <a:pPr marL="342900" indent="-342900">
              <a:lnSpc>
                <a:spcPct val="110000"/>
              </a:lnSpc>
              <a:buSzPct val="100000"/>
              <a:buChar char="●"/>
            </a:pPr>
            <a:r>
              <a:rPr lang="en-US" sz="1250" dirty="0">
                <a:solidFill>
                  <a:srgbClr val="1E293B"/>
                </a:solidFill>
                <a:latin typeface="Calibri" pitchFamily="34" charset="0"/>
                <a:ea typeface="Calibri" pitchFamily="34" charset="-122"/>
                <a:cs typeface="Calibri" pitchFamily="34" charset="-120"/>
              </a:rPr>
              <a:t>Long-term model monitoring, retraining, or maintenance beyond the capstone period</a:t>
            </a:r>
            <a:endParaRPr lang="en-US" sz="1250" dirty="0"/>
          </a:p>
        </p:txBody>
      </p:sp>
      <p:sp>
        <p:nvSpPr>
          <p:cNvPr id="1048646" name="Text 17"/>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647" name="Text 18"/>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048651"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PROJECT MANAGEMENT</a:t>
            </a:r>
            <a:endParaRPr lang="en-US" sz="1300" dirty="0"/>
          </a:p>
        </p:txBody>
      </p:sp>
      <p:sp>
        <p:nvSpPr>
          <p:cNvPr id="1048652"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Execution Approach &amp; Team Collaboration</a:t>
            </a:r>
            <a:endParaRPr lang="en-US" sz="3000" dirty="0"/>
          </a:p>
        </p:txBody>
      </p:sp>
      <p:sp>
        <p:nvSpPr>
          <p:cNvPr id="1048653" name="Shape 2"/>
          <p:cNvSpPr/>
          <p:nvPr/>
        </p:nvSpPr>
        <p:spPr>
          <a:xfrm>
            <a:off x="548640" y="1600200"/>
            <a:ext cx="502920" cy="502920"/>
          </a:xfrm>
          <a:prstGeom prst="ellipse">
            <a:avLst/>
          </a:prstGeom>
          <a:solidFill>
            <a:srgbClr val="1C7293"/>
          </a:solidFill>
        </p:spPr>
      </p:sp>
      <p:pic>
        <p:nvPicPr>
          <p:cNvPr id="2097160" name="Image 0" descr="preencoded.png"/>
          <p:cNvPicPr>
            <a:picLocks noChangeAspect="1"/>
          </p:cNvPicPr>
          <p:nvPr/>
        </p:nvPicPr>
        <p:blipFill>
          <a:blip r:embed="rId3"/>
          <a:stretch>
            <a:fillRect/>
          </a:stretch>
        </p:blipFill>
        <p:spPr>
          <a:xfrm>
            <a:off x="679399" y="1730959"/>
            <a:ext cx="241402" cy="241402"/>
          </a:xfrm>
          <a:prstGeom prst="rect">
            <a:avLst/>
          </a:prstGeom>
        </p:spPr>
      </p:pic>
      <p:sp>
        <p:nvSpPr>
          <p:cNvPr id="1048654" name="Text 3"/>
          <p:cNvSpPr/>
          <p:nvPr/>
        </p:nvSpPr>
        <p:spPr>
          <a:xfrm>
            <a:off x="1188720" y="1627632"/>
            <a:ext cx="5486400" cy="411480"/>
          </a:xfrm>
          <a:prstGeom prst="rect">
            <a:avLst/>
          </a:prstGeom>
          <a:noFill/>
        </p:spPr>
        <p:txBody>
          <a:bodyPr wrap="square" lIns="0" tIns="0" rIns="0" bIns="0" rtlCol="0" anchor="ctr"/>
          <a:lstStyle/>
          <a:p>
            <a:pPr marL="0" indent="0">
              <a:buNone/>
            </a:pPr>
            <a:r>
              <a:rPr lang="en-US" sz="1550" b="1" dirty="0">
                <a:solidFill>
                  <a:srgbClr val="16324A"/>
                </a:solidFill>
                <a:latin typeface="Cambria" pitchFamily="34" charset="0"/>
                <a:ea typeface="Cambria" pitchFamily="34" charset="-122"/>
                <a:cs typeface="Cambria" pitchFamily="34" charset="-120"/>
              </a:rPr>
              <a:t>One-Week Sprint Execution</a:t>
            </a:r>
            <a:endParaRPr lang="en-US" sz="1550" dirty="0"/>
          </a:p>
        </p:txBody>
      </p:sp>
      <p:sp>
        <p:nvSpPr>
          <p:cNvPr id="1048655" name="Text 4"/>
          <p:cNvSpPr/>
          <p:nvPr/>
        </p:nvSpPr>
        <p:spPr>
          <a:xfrm>
            <a:off x="548640" y="2148840"/>
            <a:ext cx="5486400" cy="1737360"/>
          </a:xfrm>
          <a:prstGeom prst="rect">
            <a:avLst/>
          </a:prstGeom>
          <a:noFill/>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The project was executed using a one-week sprint approach with clearly defined milestones, deliverables, and responsibilities outlined in the Project Charter. Technical Project Managers coordinated planning, monitored progress, facilitated communication, tracked risks, and ensured deliverables met the agreed Definition of Done and Acceptance Criteria.</a:t>
            </a:r>
            <a:endParaRPr lang="en-US" sz="1250" dirty="0"/>
          </a:p>
        </p:txBody>
      </p:sp>
      <p:sp>
        <p:nvSpPr>
          <p:cNvPr id="1048656" name="Text 5"/>
          <p:cNvSpPr/>
          <p:nvPr/>
        </p:nvSpPr>
        <p:spPr>
          <a:xfrm>
            <a:off x="548640" y="3977640"/>
            <a:ext cx="5486400" cy="1371600"/>
          </a:xfrm>
          <a:prstGeom prst="rect">
            <a:avLst/>
          </a:prstGeom>
          <a:noFill/>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Regular team check-ins and progress reviews identified blockers early, monitored task completion, and maintained alignment between project management and data analysis activities — enabling the team to complete the project within the scheduled timeline.</a:t>
            </a:r>
            <a:endParaRPr lang="en-US" sz="1250" dirty="0"/>
          </a:p>
        </p:txBody>
      </p:sp>
      <p:sp>
        <p:nvSpPr>
          <p:cNvPr id="1048657" name="Shape 6"/>
          <p:cNvSpPr/>
          <p:nvPr/>
        </p:nvSpPr>
        <p:spPr>
          <a:xfrm>
            <a:off x="6492240" y="1600200"/>
            <a:ext cx="502920" cy="502920"/>
          </a:xfrm>
          <a:prstGeom prst="ellipse">
            <a:avLst/>
          </a:prstGeom>
          <a:solidFill>
            <a:srgbClr val="F0663A"/>
          </a:solidFill>
        </p:spPr>
      </p:sp>
      <p:pic>
        <p:nvPicPr>
          <p:cNvPr id="2097161" name="Image 1" descr="preencoded.png"/>
          <p:cNvPicPr>
            <a:picLocks noChangeAspect="1"/>
          </p:cNvPicPr>
          <p:nvPr/>
        </p:nvPicPr>
        <p:blipFill>
          <a:blip r:embed="rId4"/>
          <a:stretch>
            <a:fillRect/>
          </a:stretch>
        </p:blipFill>
        <p:spPr>
          <a:xfrm>
            <a:off x="6622999" y="1730959"/>
            <a:ext cx="241402" cy="241402"/>
          </a:xfrm>
          <a:prstGeom prst="rect">
            <a:avLst/>
          </a:prstGeom>
        </p:spPr>
      </p:pic>
      <p:sp>
        <p:nvSpPr>
          <p:cNvPr id="1048658" name="Text 7"/>
          <p:cNvSpPr/>
          <p:nvPr/>
        </p:nvSpPr>
        <p:spPr>
          <a:xfrm>
            <a:off x="7132320" y="1627632"/>
            <a:ext cx="4754880" cy="411480"/>
          </a:xfrm>
          <a:prstGeom prst="rect">
            <a:avLst/>
          </a:prstGeom>
          <a:noFill/>
        </p:spPr>
        <p:txBody>
          <a:bodyPr wrap="square" lIns="0" tIns="0" rIns="0" bIns="0" rtlCol="0" anchor="ctr"/>
          <a:lstStyle/>
          <a:p>
            <a:pPr marL="0" indent="0">
              <a:buNone/>
            </a:pPr>
            <a:r>
              <a:rPr lang="en-US" sz="1550" b="1" dirty="0">
                <a:solidFill>
                  <a:srgbClr val="16324A"/>
                </a:solidFill>
                <a:latin typeface="Cambria" pitchFamily="34" charset="0"/>
                <a:ea typeface="Cambria" pitchFamily="34" charset="-122"/>
                <a:cs typeface="Cambria" pitchFamily="34" charset="-120"/>
              </a:rPr>
              <a:t>Collaborative Workflow</a:t>
            </a:r>
            <a:endParaRPr lang="en-US" sz="1550" dirty="0"/>
          </a:p>
        </p:txBody>
      </p:sp>
      <p:sp>
        <p:nvSpPr>
          <p:cNvPr id="1048659" name="Shape 8"/>
          <p:cNvSpPr/>
          <p:nvPr/>
        </p:nvSpPr>
        <p:spPr>
          <a:xfrm>
            <a:off x="6492240" y="2194560"/>
            <a:ext cx="5120640" cy="1371600"/>
          </a:xfrm>
          <a:prstGeom prst="roundRect">
            <a:avLst>
              <a:gd name="adj" fmla="val 5333"/>
            </a:avLst>
          </a:prstGeom>
          <a:solidFill>
            <a:srgbClr val="EEF5F6"/>
          </a:solidFill>
        </p:spPr>
      </p:sp>
      <p:sp>
        <p:nvSpPr>
          <p:cNvPr id="1048660" name="Text 9"/>
          <p:cNvSpPr/>
          <p:nvPr/>
        </p:nvSpPr>
        <p:spPr>
          <a:xfrm>
            <a:off x="6720840" y="2331720"/>
            <a:ext cx="4663440" cy="320040"/>
          </a:xfrm>
          <a:prstGeom prst="rect">
            <a:avLst/>
          </a:prstGeom>
          <a:noFill/>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Technical Project Managers</a:t>
            </a:r>
            <a:endParaRPr lang="en-US" sz="1250" dirty="0"/>
          </a:p>
        </p:txBody>
      </p:sp>
      <p:sp>
        <p:nvSpPr>
          <p:cNvPr id="1048661" name="Text 10"/>
          <p:cNvSpPr/>
          <p:nvPr/>
        </p:nvSpPr>
        <p:spPr>
          <a:xfrm>
            <a:off x="6720840" y="2651760"/>
            <a:ext cx="4663440" cy="822960"/>
          </a:xfrm>
          <a:prstGeom prst="rect">
            <a:avLst/>
          </a:prstGeom>
          <a:noFill/>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Led project planning, documentation, scheduling, and risk management.</a:t>
            </a:r>
            <a:endParaRPr lang="en-US" sz="1200" dirty="0"/>
          </a:p>
        </p:txBody>
      </p:sp>
      <p:sp>
        <p:nvSpPr>
          <p:cNvPr id="1048662" name="Shape 11"/>
          <p:cNvSpPr/>
          <p:nvPr/>
        </p:nvSpPr>
        <p:spPr>
          <a:xfrm>
            <a:off x="6492240" y="3749040"/>
            <a:ext cx="5120640" cy="1371600"/>
          </a:xfrm>
          <a:prstGeom prst="roundRect">
            <a:avLst>
              <a:gd name="adj" fmla="val 5333"/>
            </a:avLst>
          </a:prstGeom>
          <a:solidFill>
            <a:srgbClr val="EEF5F6"/>
          </a:solidFill>
        </p:spPr>
      </p:sp>
      <p:sp>
        <p:nvSpPr>
          <p:cNvPr id="1048663" name="Text 12"/>
          <p:cNvSpPr/>
          <p:nvPr/>
        </p:nvSpPr>
        <p:spPr>
          <a:xfrm>
            <a:off x="6720840" y="3886200"/>
            <a:ext cx="4663440" cy="320040"/>
          </a:xfrm>
          <a:prstGeom prst="rect">
            <a:avLst/>
          </a:prstGeom>
          <a:noFill/>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Data Analysts</a:t>
            </a:r>
            <a:endParaRPr lang="en-US" sz="1250" dirty="0"/>
          </a:p>
        </p:txBody>
      </p:sp>
      <p:sp>
        <p:nvSpPr>
          <p:cNvPr id="1048664" name="Text 13"/>
          <p:cNvSpPr/>
          <p:nvPr/>
        </p:nvSpPr>
        <p:spPr>
          <a:xfrm>
            <a:off x="6720840" y="4206240"/>
            <a:ext cx="4663440" cy="914400"/>
          </a:xfrm>
          <a:prstGeom prst="rect">
            <a:avLst/>
          </a:prstGeom>
          <a:noFill/>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Focused on data preparation, exploratory </a:t>
            </a:r>
            <a:r>
              <a:rPr lang="en-US" sz="1200" dirty="0" smtClean="0">
                <a:solidFill>
                  <a:srgbClr val="1E293B"/>
                </a:solidFill>
                <a:latin typeface="Calibri" pitchFamily="34" charset="0"/>
                <a:ea typeface="Calibri" pitchFamily="34" charset="-122"/>
                <a:cs typeface="Calibri" pitchFamily="34" charset="-120"/>
              </a:rPr>
              <a:t>analysis, </a:t>
            </a:r>
            <a:r>
              <a:rPr lang="en-US" sz="1200" dirty="0">
                <a:solidFill>
                  <a:srgbClr val="1E293B"/>
                </a:solidFill>
                <a:latin typeface="Calibri" pitchFamily="34" charset="0"/>
                <a:ea typeface="Calibri" pitchFamily="34" charset="-122"/>
                <a:cs typeface="Calibri" pitchFamily="34" charset="-120"/>
              </a:rPr>
              <a:t>predictive </a:t>
            </a:r>
            <a:r>
              <a:rPr lang="en-US" sz="1200" dirty="0" smtClean="0">
                <a:solidFill>
                  <a:srgbClr val="1E293B"/>
                </a:solidFill>
                <a:latin typeface="Calibri" pitchFamily="34" charset="0"/>
                <a:ea typeface="Calibri" pitchFamily="34" charset="-122"/>
                <a:cs typeface="Calibri" pitchFamily="34" charset="-120"/>
              </a:rPr>
              <a:t>classification</a:t>
            </a:r>
            <a:r>
              <a:rPr lang="en-US" sz="1200" dirty="0" smtClean="0">
                <a:solidFill>
                  <a:srgbClr val="1E293B"/>
                </a:solidFill>
                <a:latin typeface="Calibri" pitchFamily="34" charset="0"/>
                <a:ea typeface="Calibri" pitchFamily="34" charset="-122"/>
                <a:cs typeface="Calibri" pitchFamily="34" charset="-120"/>
              </a:rPr>
              <a:t>, </a:t>
            </a:r>
            <a:r>
              <a:rPr lang="en-US" sz="1200" dirty="0">
                <a:solidFill>
                  <a:srgbClr val="1E293B"/>
                </a:solidFill>
                <a:latin typeface="Calibri" pitchFamily="34" charset="0"/>
                <a:ea typeface="Calibri" pitchFamily="34" charset="-122"/>
                <a:cs typeface="Calibri" pitchFamily="34" charset="-120"/>
              </a:rPr>
              <a:t>dashboard development, and validation.</a:t>
            </a:r>
            <a:endParaRPr lang="en-US" sz="1200" dirty="0"/>
          </a:p>
        </p:txBody>
      </p:sp>
      <p:sp>
        <p:nvSpPr>
          <p:cNvPr id="1048665" name="Text 14"/>
          <p:cNvSpPr/>
          <p:nvPr/>
        </p:nvSpPr>
        <p:spPr>
          <a:xfrm>
            <a:off x="6492240" y="5257800"/>
            <a:ext cx="5120640" cy="685800"/>
          </a:xfrm>
          <a:prstGeom prst="rect">
            <a:avLst/>
          </a:prstGeom>
          <a:noFill/>
        </p:spPr>
        <p:txBody>
          <a:bodyPr wrap="square" lIns="0" tIns="0" rIns="0" bIns="0" rtlCol="0" anchor="ctr"/>
          <a:lstStyle/>
          <a:p>
            <a:pPr marL="0" indent="0">
              <a:lnSpc>
                <a:spcPct val="115000"/>
              </a:lnSpc>
              <a:buNone/>
            </a:pPr>
            <a:r>
              <a:rPr lang="en-US" sz="1150" i="1" dirty="0">
                <a:solidFill>
                  <a:srgbClr val="5B7280"/>
                </a:solidFill>
                <a:latin typeface="Calibri" pitchFamily="34" charset="0"/>
                <a:ea typeface="Calibri" pitchFamily="34" charset="-122"/>
                <a:cs typeface="Calibri" pitchFamily="34" charset="-120"/>
              </a:rPr>
              <a:t>Shared documentation, continuous communication, and regular feedback sessions ensured consistency across all project activities.</a:t>
            </a:r>
            <a:endParaRPr lang="en-US" sz="1150" dirty="0"/>
          </a:p>
        </p:txBody>
      </p:sp>
      <p:sp>
        <p:nvSpPr>
          <p:cNvPr id="1048666" name="Text 15"/>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667" name="Text 16"/>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048671"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METHODOLOGY</a:t>
            </a:r>
            <a:endParaRPr lang="en-US" sz="1300" dirty="0"/>
          </a:p>
        </p:txBody>
      </p:sp>
      <p:sp>
        <p:nvSpPr>
          <p:cNvPr id="1048672"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Data Overview</a:t>
            </a:r>
            <a:endParaRPr lang="en-US" sz="3000" dirty="0"/>
          </a:p>
        </p:txBody>
      </p:sp>
      <p:sp>
        <p:nvSpPr>
          <p:cNvPr id="1048673" name="Shape 2"/>
          <p:cNvSpPr/>
          <p:nvPr/>
        </p:nvSpPr>
        <p:spPr>
          <a:xfrm>
            <a:off x="548640" y="1600200"/>
            <a:ext cx="502920" cy="502920"/>
          </a:xfrm>
          <a:prstGeom prst="ellipse">
            <a:avLst/>
          </a:prstGeom>
          <a:solidFill>
            <a:srgbClr val="1C7293"/>
          </a:solidFill>
        </p:spPr>
      </p:sp>
      <p:pic>
        <p:nvPicPr>
          <p:cNvPr id="2097162" name="Image 0" descr="preencoded.png"/>
          <p:cNvPicPr>
            <a:picLocks noChangeAspect="1"/>
          </p:cNvPicPr>
          <p:nvPr/>
        </p:nvPicPr>
        <p:blipFill>
          <a:blip r:embed="rId3"/>
          <a:stretch>
            <a:fillRect/>
          </a:stretch>
        </p:blipFill>
        <p:spPr>
          <a:xfrm>
            <a:off x="679399" y="1730959"/>
            <a:ext cx="241402" cy="241402"/>
          </a:xfrm>
          <a:prstGeom prst="rect">
            <a:avLst/>
          </a:prstGeom>
        </p:spPr>
      </p:pic>
      <p:sp>
        <p:nvSpPr>
          <p:cNvPr id="1048674" name="Text 3"/>
          <p:cNvSpPr/>
          <p:nvPr/>
        </p:nvSpPr>
        <p:spPr>
          <a:xfrm>
            <a:off x="1188720" y="1572768"/>
            <a:ext cx="10332720" cy="1280160"/>
          </a:xfrm>
          <a:prstGeom prst="rect">
            <a:avLst/>
          </a:prstGeom>
          <a:noFill/>
        </p:spPr>
        <p:txBody>
          <a:bodyPr wrap="square" lIns="0" tIns="0" rIns="0" bIns="0" rtlCol="0" anchor="ctr"/>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The dataset initially contained </a:t>
            </a:r>
            <a:r>
              <a:rPr lang="en-US" sz="1300" dirty="0" smtClean="0">
                <a:solidFill>
                  <a:srgbClr val="1E293B"/>
                </a:solidFill>
                <a:latin typeface="Calibri" pitchFamily="34" charset="0"/>
                <a:ea typeface="Calibri" pitchFamily="34" charset="-122"/>
                <a:cs typeface="Calibri" pitchFamily="34" charset="-120"/>
              </a:rPr>
              <a:t>10,000 </a:t>
            </a:r>
            <a:r>
              <a:rPr lang="en-US" sz="1300" dirty="0">
                <a:solidFill>
                  <a:srgbClr val="1E293B"/>
                </a:solidFill>
                <a:latin typeface="Calibri" pitchFamily="34" charset="0"/>
                <a:ea typeface="Calibri" pitchFamily="34" charset="-122"/>
                <a:cs typeface="Calibri" pitchFamily="34" charset="-120"/>
              </a:rPr>
              <a:t>student records across 19 variables, including numerical and categorical features. After removing records with missing values, the final cleaned dataset comprised </a:t>
            </a:r>
            <a:r>
              <a:rPr lang="en-US" sz="1300" dirty="0" smtClean="0">
                <a:solidFill>
                  <a:srgbClr val="1E293B"/>
                </a:solidFill>
                <a:latin typeface="Calibri" pitchFamily="34" charset="0"/>
                <a:ea typeface="Calibri" pitchFamily="34" charset="-122"/>
                <a:cs typeface="Calibri" pitchFamily="34" charset="-120"/>
              </a:rPr>
              <a:t>9,500 </a:t>
            </a:r>
            <a:r>
              <a:rPr lang="en-US" sz="1300" dirty="0">
                <a:solidFill>
                  <a:srgbClr val="1E293B"/>
                </a:solidFill>
                <a:latin typeface="Calibri" pitchFamily="34" charset="0"/>
                <a:ea typeface="Calibri" pitchFamily="34" charset="-122"/>
                <a:cs typeface="Calibri" pitchFamily="34" charset="-120"/>
              </a:rPr>
              <a:t>records and 19 columns — 9 numerical variables (age, study hours, attendance rate, exam score, family income, stress level, travel time) and 10 categorical variables (gender, internet access, scholarship status, parental education, department, semester, dropout status, and others).</a:t>
            </a:r>
            <a:endParaRPr lang="en-US" sz="1300" dirty="0"/>
          </a:p>
        </p:txBody>
      </p:sp>
      <p:sp>
        <p:nvSpPr>
          <p:cNvPr id="1048675" name="Shape 4"/>
          <p:cNvSpPr/>
          <p:nvPr/>
        </p:nvSpPr>
        <p:spPr>
          <a:xfrm>
            <a:off x="548640" y="3063240"/>
            <a:ext cx="2697480" cy="1920240"/>
          </a:xfrm>
          <a:prstGeom prst="roundRect">
            <a:avLst>
              <a:gd name="adj" fmla="val 4286"/>
            </a:avLst>
          </a:prstGeom>
          <a:solidFill>
            <a:srgbClr val="EEF5F6"/>
          </a:solidFill>
          <a:effectLst>
            <a:outerShdw blurRad="101600" dist="25400" dir="5400000" algn="bl" rotWithShape="0">
              <a:srgbClr val="000000">
                <a:alpha val="7000"/>
              </a:srgbClr>
            </a:outerShdw>
          </a:effectLst>
        </p:spPr>
      </p:sp>
      <p:sp>
        <p:nvSpPr>
          <p:cNvPr id="1048676" name="Shape 5"/>
          <p:cNvSpPr/>
          <p:nvPr/>
        </p:nvSpPr>
        <p:spPr>
          <a:xfrm>
            <a:off x="777240" y="3291840"/>
            <a:ext cx="502920" cy="502920"/>
          </a:xfrm>
          <a:prstGeom prst="ellipse">
            <a:avLst/>
          </a:prstGeom>
          <a:solidFill>
            <a:srgbClr val="FFFFFF"/>
          </a:solidFill>
        </p:spPr>
      </p:sp>
      <p:pic>
        <p:nvPicPr>
          <p:cNvPr id="2097163" name="Image 1" descr="preencoded.png"/>
          <p:cNvPicPr>
            <a:picLocks noChangeAspect="1"/>
          </p:cNvPicPr>
          <p:nvPr/>
        </p:nvPicPr>
        <p:blipFill>
          <a:blip r:embed="rId4"/>
          <a:stretch>
            <a:fillRect/>
          </a:stretch>
        </p:blipFill>
        <p:spPr>
          <a:xfrm>
            <a:off x="907999" y="3422599"/>
            <a:ext cx="241402" cy="241402"/>
          </a:xfrm>
          <a:prstGeom prst="rect">
            <a:avLst/>
          </a:prstGeom>
        </p:spPr>
      </p:pic>
      <p:sp>
        <p:nvSpPr>
          <p:cNvPr id="1048677" name="Text 6"/>
          <p:cNvSpPr/>
          <p:nvPr/>
        </p:nvSpPr>
        <p:spPr>
          <a:xfrm>
            <a:off x="777240" y="3931920"/>
            <a:ext cx="2286000" cy="502920"/>
          </a:xfrm>
          <a:prstGeom prst="rect">
            <a:avLst/>
          </a:prstGeom>
          <a:noFill/>
        </p:spPr>
        <p:txBody>
          <a:bodyPr wrap="square" lIns="0" tIns="0" rIns="0" bIns="0" rtlCol="0" anchor="ctr"/>
          <a:lstStyle/>
          <a:p>
            <a:pPr marL="0" indent="0">
              <a:buNone/>
            </a:pPr>
            <a:r>
              <a:rPr lang="en-US" sz="2400" b="1" dirty="0">
                <a:solidFill>
                  <a:srgbClr val="16324A"/>
                </a:solidFill>
                <a:latin typeface="Cambria" pitchFamily="34" charset="0"/>
                <a:ea typeface="Cambria" pitchFamily="34" charset="-122"/>
                <a:cs typeface="Cambria" pitchFamily="34" charset="-120"/>
              </a:rPr>
              <a:t>50 / 50</a:t>
            </a:r>
            <a:endParaRPr lang="en-US" sz="2400" dirty="0"/>
          </a:p>
        </p:txBody>
      </p:sp>
      <p:sp>
        <p:nvSpPr>
          <p:cNvPr id="1048678" name="Text 7"/>
          <p:cNvSpPr/>
          <p:nvPr/>
        </p:nvSpPr>
        <p:spPr>
          <a:xfrm>
            <a:off x="777240" y="4480560"/>
            <a:ext cx="2286000" cy="45720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Gender split (Female / Male)</a:t>
            </a:r>
            <a:endParaRPr lang="en-US" sz="1050" dirty="0"/>
          </a:p>
        </p:txBody>
      </p:sp>
      <p:sp>
        <p:nvSpPr>
          <p:cNvPr id="1048679" name="Shape 8"/>
          <p:cNvSpPr/>
          <p:nvPr/>
        </p:nvSpPr>
        <p:spPr>
          <a:xfrm>
            <a:off x="3456432" y="3063240"/>
            <a:ext cx="2697480" cy="1920240"/>
          </a:xfrm>
          <a:prstGeom prst="roundRect">
            <a:avLst>
              <a:gd name="adj" fmla="val 4286"/>
            </a:avLst>
          </a:prstGeom>
          <a:solidFill>
            <a:srgbClr val="EEF5F6"/>
          </a:solidFill>
          <a:effectLst>
            <a:outerShdw blurRad="101600" dist="25400" dir="5400000" algn="bl" rotWithShape="0">
              <a:srgbClr val="000000">
                <a:alpha val="7000"/>
              </a:srgbClr>
            </a:outerShdw>
          </a:effectLst>
        </p:spPr>
      </p:sp>
      <p:sp>
        <p:nvSpPr>
          <p:cNvPr id="1048680" name="Shape 9"/>
          <p:cNvSpPr/>
          <p:nvPr/>
        </p:nvSpPr>
        <p:spPr>
          <a:xfrm>
            <a:off x="3685032" y="3291840"/>
            <a:ext cx="502920" cy="502920"/>
          </a:xfrm>
          <a:prstGeom prst="ellipse">
            <a:avLst/>
          </a:prstGeom>
          <a:solidFill>
            <a:srgbClr val="FFFFFF"/>
          </a:solidFill>
        </p:spPr>
      </p:sp>
      <p:pic>
        <p:nvPicPr>
          <p:cNvPr id="2097164" name="Image 2" descr="preencoded.png"/>
          <p:cNvPicPr>
            <a:picLocks noChangeAspect="1"/>
          </p:cNvPicPr>
          <p:nvPr/>
        </p:nvPicPr>
        <p:blipFill>
          <a:blip r:embed="rId5"/>
          <a:stretch>
            <a:fillRect/>
          </a:stretch>
        </p:blipFill>
        <p:spPr>
          <a:xfrm>
            <a:off x="3815791" y="3422599"/>
            <a:ext cx="241402" cy="241402"/>
          </a:xfrm>
          <a:prstGeom prst="rect">
            <a:avLst/>
          </a:prstGeom>
        </p:spPr>
      </p:pic>
      <p:sp>
        <p:nvSpPr>
          <p:cNvPr id="1048681" name="Text 10"/>
          <p:cNvSpPr/>
          <p:nvPr/>
        </p:nvSpPr>
        <p:spPr>
          <a:xfrm>
            <a:off x="3685032" y="3931920"/>
            <a:ext cx="2286000" cy="502920"/>
          </a:xfrm>
          <a:prstGeom prst="rect">
            <a:avLst/>
          </a:prstGeom>
          <a:noFill/>
        </p:spPr>
        <p:txBody>
          <a:bodyPr wrap="square" lIns="0" tIns="0" rIns="0" bIns="0" rtlCol="0" anchor="ctr"/>
          <a:lstStyle/>
          <a:p>
            <a:pPr marL="0" indent="0">
              <a:buNone/>
            </a:pPr>
            <a:r>
              <a:rPr lang="en-US" sz="2400" b="1" dirty="0">
                <a:solidFill>
                  <a:srgbClr val="16324A"/>
                </a:solidFill>
                <a:latin typeface="Cambria" pitchFamily="34" charset="0"/>
                <a:ea typeface="Cambria" pitchFamily="34" charset="-122"/>
                <a:cs typeface="Cambria" pitchFamily="34" charset="-120"/>
              </a:rPr>
              <a:t>88%</a:t>
            </a:r>
            <a:endParaRPr lang="en-US" sz="2400" dirty="0"/>
          </a:p>
        </p:txBody>
      </p:sp>
      <p:sp>
        <p:nvSpPr>
          <p:cNvPr id="1048682" name="Text 11"/>
          <p:cNvSpPr/>
          <p:nvPr/>
        </p:nvSpPr>
        <p:spPr>
          <a:xfrm>
            <a:off x="3685032" y="4480560"/>
            <a:ext cx="2286000" cy="45720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Students with internet access</a:t>
            </a:r>
            <a:endParaRPr lang="en-US" sz="1050" dirty="0"/>
          </a:p>
        </p:txBody>
      </p:sp>
      <p:sp>
        <p:nvSpPr>
          <p:cNvPr id="1048683" name="Shape 12"/>
          <p:cNvSpPr/>
          <p:nvPr/>
        </p:nvSpPr>
        <p:spPr>
          <a:xfrm>
            <a:off x="6364224" y="3063240"/>
            <a:ext cx="2697480" cy="1920240"/>
          </a:xfrm>
          <a:prstGeom prst="roundRect">
            <a:avLst>
              <a:gd name="adj" fmla="val 4286"/>
            </a:avLst>
          </a:prstGeom>
          <a:solidFill>
            <a:srgbClr val="EEF5F6"/>
          </a:solidFill>
          <a:effectLst>
            <a:outerShdw blurRad="101600" dist="25400" dir="5400000" algn="bl" rotWithShape="0">
              <a:srgbClr val="000000">
                <a:alpha val="7000"/>
              </a:srgbClr>
            </a:outerShdw>
          </a:effectLst>
        </p:spPr>
      </p:sp>
      <p:sp>
        <p:nvSpPr>
          <p:cNvPr id="1048684" name="Shape 13"/>
          <p:cNvSpPr/>
          <p:nvPr/>
        </p:nvSpPr>
        <p:spPr>
          <a:xfrm>
            <a:off x="6592824" y="3291840"/>
            <a:ext cx="502920" cy="502920"/>
          </a:xfrm>
          <a:prstGeom prst="ellipse">
            <a:avLst/>
          </a:prstGeom>
          <a:solidFill>
            <a:srgbClr val="FFFFFF"/>
          </a:solidFill>
        </p:spPr>
      </p:sp>
      <p:pic>
        <p:nvPicPr>
          <p:cNvPr id="2097165" name="Image 3" descr="preencoded.png"/>
          <p:cNvPicPr>
            <a:picLocks noChangeAspect="1"/>
          </p:cNvPicPr>
          <p:nvPr/>
        </p:nvPicPr>
        <p:blipFill>
          <a:blip r:embed="rId6"/>
          <a:stretch>
            <a:fillRect/>
          </a:stretch>
        </p:blipFill>
        <p:spPr>
          <a:xfrm>
            <a:off x="6723583" y="3422599"/>
            <a:ext cx="241402" cy="241402"/>
          </a:xfrm>
          <a:prstGeom prst="rect">
            <a:avLst/>
          </a:prstGeom>
        </p:spPr>
      </p:pic>
      <p:sp>
        <p:nvSpPr>
          <p:cNvPr id="1048685" name="Text 14"/>
          <p:cNvSpPr/>
          <p:nvPr/>
        </p:nvSpPr>
        <p:spPr>
          <a:xfrm>
            <a:off x="6592824" y="3931920"/>
            <a:ext cx="2286000" cy="502920"/>
          </a:xfrm>
          <a:prstGeom prst="rect">
            <a:avLst/>
          </a:prstGeom>
          <a:noFill/>
        </p:spPr>
        <p:txBody>
          <a:bodyPr wrap="square" lIns="0" tIns="0" rIns="0" bIns="0" rtlCol="0" anchor="ctr"/>
          <a:lstStyle/>
          <a:p>
            <a:pPr marL="0" indent="0">
              <a:buNone/>
            </a:pPr>
            <a:r>
              <a:rPr lang="en-US" sz="2400" b="1" dirty="0">
                <a:solidFill>
                  <a:srgbClr val="16324A"/>
                </a:solidFill>
                <a:latin typeface="Cambria" pitchFamily="34" charset="0"/>
                <a:ea typeface="Cambria" pitchFamily="34" charset="-122"/>
                <a:cs typeface="Cambria" pitchFamily="34" charset="-120"/>
              </a:rPr>
              <a:t>39.6%</a:t>
            </a:r>
            <a:endParaRPr lang="en-US" sz="2400" dirty="0"/>
          </a:p>
        </p:txBody>
      </p:sp>
      <p:sp>
        <p:nvSpPr>
          <p:cNvPr id="1048686" name="Text 15"/>
          <p:cNvSpPr/>
          <p:nvPr/>
        </p:nvSpPr>
        <p:spPr>
          <a:xfrm>
            <a:off x="6592824" y="4480560"/>
            <a:ext cx="2286000" cy="45720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Parents with Bachelor's degree (most common)</a:t>
            </a:r>
            <a:endParaRPr lang="en-US" sz="1050" dirty="0"/>
          </a:p>
        </p:txBody>
      </p:sp>
      <p:sp>
        <p:nvSpPr>
          <p:cNvPr id="1048687" name="Shape 16"/>
          <p:cNvSpPr/>
          <p:nvPr/>
        </p:nvSpPr>
        <p:spPr>
          <a:xfrm>
            <a:off x="9272016" y="3063240"/>
            <a:ext cx="2697480" cy="1920240"/>
          </a:xfrm>
          <a:prstGeom prst="roundRect">
            <a:avLst>
              <a:gd name="adj" fmla="val 4286"/>
            </a:avLst>
          </a:prstGeom>
          <a:solidFill>
            <a:srgbClr val="EEF5F6"/>
          </a:solidFill>
          <a:effectLst>
            <a:outerShdw blurRad="101600" dist="25400" dir="5400000" algn="bl" rotWithShape="0">
              <a:srgbClr val="000000">
                <a:alpha val="7000"/>
              </a:srgbClr>
            </a:outerShdw>
          </a:effectLst>
        </p:spPr>
      </p:sp>
      <p:sp>
        <p:nvSpPr>
          <p:cNvPr id="1048688" name="Shape 17"/>
          <p:cNvSpPr/>
          <p:nvPr/>
        </p:nvSpPr>
        <p:spPr>
          <a:xfrm>
            <a:off x="9500616" y="3291840"/>
            <a:ext cx="502920" cy="502920"/>
          </a:xfrm>
          <a:prstGeom prst="ellipse">
            <a:avLst/>
          </a:prstGeom>
          <a:solidFill>
            <a:srgbClr val="FFFFFF"/>
          </a:solidFill>
        </p:spPr>
      </p:sp>
      <p:pic>
        <p:nvPicPr>
          <p:cNvPr id="2097166" name="Image 4" descr="preencoded.png"/>
          <p:cNvPicPr>
            <a:picLocks noChangeAspect="1"/>
          </p:cNvPicPr>
          <p:nvPr/>
        </p:nvPicPr>
        <p:blipFill>
          <a:blip r:embed="rId7"/>
          <a:stretch>
            <a:fillRect/>
          </a:stretch>
        </p:blipFill>
        <p:spPr>
          <a:xfrm>
            <a:off x="9631375" y="3422599"/>
            <a:ext cx="241402" cy="241402"/>
          </a:xfrm>
          <a:prstGeom prst="rect">
            <a:avLst/>
          </a:prstGeom>
        </p:spPr>
      </p:pic>
      <p:sp>
        <p:nvSpPr>
          <p:cNvPr id="1048689" name="Text 18"/>
          <p:cNvSpPr/>
          <p:nvPr/>
        </p:nvSpPr>
        <p:spPr>
          <a:xfrm>
            <a:off x="9500616" y="3931920"/>
            <a:ext cx="2286000" cy="502920"/>
          </a:xfrm>
          <a:prstGeom prst="rect">
            <a:avLst/>
          </a:prstGeom>
          <a:noFill/>
        </p:spPr>
        <p:txBody>
          <a:bodyPr wrap="square" lIns="0" tIns="0" rIns="0" bIns="0" rtlCol="0" anchor="ctr"/>
          <a:lstStyle/>
          <a:p>
            <a:pPr marL="0" indent="0">
              <a:buNone/>
            </a:pPr>
            <a:r>
              <a:rPr lang="en-US" sz="2400" b="1" dirty="0">
                <a:solidFill>
                  <a:srgbClr val="16324A"/>
                </a:solidFill>
                <a:latin typeface="Cambria" pitchFamily="34" charset="0"/>
                <a:ea typeface="Cambria" pitchFamily="34" charset="-122"/>
                <a:cs typeface="Cambria" pitchFamily="34" charset="-120"/>
              </a:rPr>
              <a:t>23.6%</a:t>
            </a:r>
            <a:endParaRPr lang="en-US" sz="2400" dirty="0"/>
          </a:p>
        </p:txBody>
      </p:sp>
      <p:sp>
        <p:nvSpPr>
          <p:cNvPr id="1048690" name="Text 19"/>
          <p:cNvSpPr/>
          <p:nvPr/>
        </p:nvSpPr>
        <p:spPr>
          <a:xfrm>
            <a:off x="9500616" y="4480560"/>
            <a:ext cx="2286000" cy="45720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Overall dropout rate (2,241 students)</a:t>
            </a:r>
            <a:endParaRPr lang="en-US" sz="1050" dirty="0"/>
          </a:p>
        </p:txBody>
      </p:sp>
      <p:sp>
        <p:nvSpPr>
          <p:cNvPr id="1048691" name="Text 20"/>
          <p:cNvSpPr/>
          <p:nvPr/>
        </p:nvSpPr>
        <p:spPr>
          <a:xfrm>
            <a:off x="548640" y="5257800"/>
            <a:ext cx="10881360" cy="822960"/>
          </a:xfrm>
          <a:prstGeom prst="rect">
            <a:avLst/>
          </a:prstGeom>
          <a:noFill/>
        </p:spPr>
        <p:txBody>
          <a:bodyPr wrap="square" lIns="0" tIns="0" rIns="0" bIns="0" rtlCol="0" anchor="ctr"/>
          <a:lstStyle/>
          <a:p>
            <a:pPr marL="0" indent="0">
              <a:lnSpc>
                <a:spcPct val="120000"/>
              </a:lnSpc>
              <a:buNone/>
            </a:pPr>
            <a:r>
              <a:rPr lang="en-US" sz="1150" i="1" dirty="0">
                <a:solidFill>
                  <a:srgbClr val="5B7280"/>
                </a:solidFill>
                <a:latin typeface="Calibri" pitchFamily="34" charset="0"/>
                <a:ea typeface="Calibri" pitchFamily="34" charset="-122"/>
                <a:cs typeface="Calibri" pitchFamily="34" charset="-120"/>
              </a:rPr>
              <a:t>Descriptive statistics (mean, median, standard deviation, min/max) were computed for all numerical variables; frequency analysis was conducted for categorical variables. Tools: Google Sheets for </a:t>
            </a:r>
            <a:r>
              <a:rPr lang="en-US" sz="1150" i="1" dirty="0" smtClean="0">
                <a:solidFill>
                  <a:srgbClr val="5B7280"/>
                </a:solidFill>
                <a:latin typeface="Calibri" pitchFamily="34" charset="0"/>
                <a:ea typeface="Calibri" pitchFamily="34" charset="-122"/>
                <a:cs typeface="Calibri" pitchFamily="34" charset="-120"/>
              </a:rPr>
              <a:t>cleaning, </a:t>
            </a:r>
            <a:r>
              <a:rPr lang="en-US" sz="1150" i="1" dirty="0" err="1" smtClean="0">
                <a:solidFill>
                  <a:srgbClr val="5B7280"/>
                </a:solidFill>
                <a:latin typeface="Calibri" pitchFamily="34" charset="0"/>
                <a:ea typeface="Calibri" pitchFamily="34" charset="-122"/>
                <a:cs typeface="Calibri" pitchFamily="34" charset="-120"/>
              </a:rPr>
              <a:t>E</a:t>
            </a:r>
            <a:r>
              <a:rPr lang="en-US" sz="1150" i="1" dirty="0" err="1" smtClean="0">
                <a:solidFill>
                  <a:srgbClr val="5B7280"/>
                </a:solidFill>
                <a:latin typeface="Calibri" pitchFamily="34" charset="0"/>
                <a:ea typeface="Calibri" pitchFamily="34" charset="-122"/>
                <a:cs typeface="Calibri" pitchFamily="34" charset="-120"/>
              </a:rPr>
              <a:t>xcel,Sql</a:t>
            </a:r>
            <a:r>
              <a:rPr lang="en-US" sz="1150" i="1" dirty="0" smtClean="0">
                <a:solidFill>
                  <a:srgbClr val="5B7280"/>
                </a:solidFill>
                <a:latin typeface="Calibri" pitchFamily="34" charset="0"/>
                <a:ea typeface="Calibri" pitchFamily="34" charset="-122"/>
                <a:cs typeface="Calibri" pitchFamily="34" charset="-120"/>
              </a:rPr>
              <a:t> and python for </a:t>
            </a:r>
            <a:r>
              <a:rPr lang="en-US" sz="1150" i="1" dirty="0">
                <a:solidFill>
                  <a:srgbClr val="5B7280"/>
                </a:solidFill>
                <a:latin typeface="Calibri" pitchFamily="34" charset="0"/>
                <a:ea typeface="Calibri" pitchFamily="34" charset="-122"/>
                <a:cs typeface="Calibri" pitchFamily="34" charset="-120"/>
              </a:rPr>
              <a:t>EDA, with Claude AI </a:t>
            </a:r>
            <a:r>
              <a:rPr lang="en-US" sz="1150" i="1" dirty="0" smtClean="0">
                <a:solidFill>
                  <a:srgbClr val="5B7280"/>
                </a:solidFill>
                <a:latin typeface="Calibri" pitchFamily="34" charset="0"/>
                <a:ea typeface="Calibri" pitchFamily="34" charset="-122"/>
                <a:cs typeface="Calibri" pitchFamily="34" charset="-120"/>
              </a:rPr>
              <a:t> and Chat-GPT providing </a:t>
            </a:r>
            <a:r>
              <a:rPr lang="en-US" sz="1150" i="1" dirty="0">
                <a:solidFill>
                  <a:srgbClr val="5B7280"/>
                </a:solidFill>
                <a:latin typeface="Calibri" pitchFamily="34" charset="0"/>
                <a:ea typeface="Calibri" pitchFamily="34" charset="-122"/>
                <a:cs typeface="Calibri" pitchFamily="34" charset="-120"/>
              </a:rPr>
              <a:t>analytical support and interpretation.</a:t>
            </a:r>
            <a:endParaRPr lang="en-US" sz="1150" dirty="0"/>
          </a:p>
        </p:txBody>
      </p:sp>
      <p:sp>
        <p:nvSpPr>
          <p:cNvPr id="1048692" name="Text 21"/>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693" name="Text 22"/>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048697"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METHODOLOGY</a:t>
            </a:r>
            <a:endParaRPr lang="en-US" sz="1300" dirty="0"/>
          </a:p>
        </p:txBody>
      </p:sp>
      <p:sp>
        <p:nvSpPr>
          <p:cNvPr id="1048698"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Data Cleaning</a:t>
            </a:r>
            <a:endParaRPr lang="en-US" sz="3000" dirty="0"/>
          </a:p>
        </p:txBody>
      </p:sp>
      <p:sp>
        <p:nvSpPr>
          <p:cNvPr id="1048699" name="Text 2"/>
          <p:cNvSpPr/>
          <p:nvPr/>
        </p:nvSpPr>
        <p:spPr>
          <a:xfrm>
            <a:off x="548640" y="1554480"/>
            <a:ext cx="5212080" cy="2011680"/>
          </a:xfrm>
          <a:prstGeom prst="rect">
            <a:avLst/>
          </a:prstGeom>
          <a:noFill/>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Of the 10,000 records in the dataset, 980 data points across 500 rows were null. Missing data was limited to four variables: Parental Education, Family Income, Study Hours per Day, and Stress Index (500 missing values each). Removing all incomplete records reduced the dataset to 9,500 observations, providing a reliable foundation for further analysis.</a:t>
            </a:r>
            <a:endParaRPr lang="en-US" sz="1350" dirty="0"/>
          </a:p>
        </p:txBody>
      </p:sp>
      <p:sp>
        <p:nvSpPr>
          <p:cNvPr id="1048700" name="Shape 3"/>
          <p:cNvSpPr/>
          <p:nvPr/>
        </p:nvSpPr>
        <p:spPr>
          <a:xfrm>
            <a:off x="548640" y="3749040"/>
            <a:ext cx="5212080" cy="2377440"/>
          </a:xfrm>
          <a:prstGeom prst="roundRect">
            <a:avLst>
              <a:gd name="adj" fmla="val 3846"/>
            </a:avLst>
          </a:prstGeom>
          <a:solidFill>
            <a:srgbClr val="16324A"/>
          </a:solidFill>
        </p:spPr>
      </p:sp>
      <p:sp>
        <p:nvSpPr>
          <p:cNvPr id="1048701" name="Text 4"/>
          <p:cNvSpPr/>
          <p:nvPr/>
        </p:nvSpPr>
        <p:spPr>
          <a:xfrm>
            <a:off x="822960" y="3977640"/>
            <a:ext cx="3657600" cy="822960"/>
          </a:xfrm>
          <a:prstGeom prst="rect">
            <a:avLst/>
          </a:prstGeom>
          <a:noFill/>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9,500</a:t>
            </a:r>
            <a:endParaRPr lang="en-US" sz="4600" dirty="0"/>
          </a:p>
        </p:txBody>
      </p:sp>
      <p:sp>
        <p:nvSpPr>
          <p:cNvPr id="1048702" name="Text 5"/>
          <p:cNvSpPr/>
          <p:nvPr/>
        </p:nvSpPr>
        <p:spPr>
          <a:xfrm>
            <a:off x="822960" y="4846320"/>
            <a:ext cx="4663440" cy="1097280"/>
          </a:xfrm>
          <a:prstGeom prst="rect">
            <a:avLst/>
          </a:prstGeom>
          <a:noFill/>
        </p:spPr>
        <p:txBody>
          <a:bodyPr wrap="square" lIns="0" tIns="0" rIns="0" bIns="0" rtlCol="0" anchor="ctr"/>
          <a:lstStyle/>
          <a:p>
            <a:pPr marL="0" indent="0">
              <a:lnSpc>
                <a:spcPct val="120000"/>
              </a:lnSpc>
              <a:buNone/>
            </a:pPr>
            <a:r>
              <a:rPr lang="en-US" sz="1300" dirty="0">
                <a:solidFill>
                  <a:srgbClr val="CADCE6"/>
                </a:solidFill>
                <a:latin typeface="Calibri" pitchFamily="34" charset="0"/>
                <a:ea typeface="Calibri" pitchFamily="34" charset="-122"/>
                <a:cs typeface="Calibri" pitchFamily="34" charset="-120"/>
              </a:rPr>
              <a:t>Final clean records (19 columns) — the reliable foundation for EDA and predictive modelling.</a:t>
            </a:r>
            <a:endParaRPr lang="en-US" sz="1300" dirty="0"/>
          </a:p>
        </p:txBody>
      </p:sp>
      <p:graphicFrame>
        <p:nvGraphicFramePr>
          <p:cNvPr id="4194304" name="Table 0"/>
          <p:cNvGraphicFramePr>
            <a:graphicFrameLocks noGrp="1"/>
          </p:cNvGraphicFramePr>
          <p:nvPr/>
        </p:nvGraphicFramePr>
        <p:xfrm>
          <a:off x="6217920" y="1600200"/>
          <a:ext cx="5394960" cy="2743200"/>
        </p:xfrm>
        <a:graphic>
          <a:graphicData uri="http://schemas.openxmlformats.org/drawingml/2006/table">
            <a:tbl>
              <a:tblPr/>
              <a:tblGrid>
                <a:gridCol w="3383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572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C7293"/>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Missing Values</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Parental Education</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Family Income</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Study Hours per Day</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Stress Index</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EEF5F6"/>
                    </a:solidFill>
                  </a:tcPr>
                </a:tc>
                <a:tc>
                  <a:txBody>
                    <a:bodyPr/>
                    <a:lstStyle/>
                    <a:p>
                      <a:pPr marL="0" indent="0" algn="ctr">
                        <a:buNone/>
                      </a:pPr>
                      <a:r>
                        <a:rPr lang="en-US" sz="1250" b="1" dirty="0">
                          <a:solidFill>
                            <a:srgbClr val="1E293B"/>
                          </a:solidFill>
                          <a:latin typeface="Calibri" pitchFamily="34" charset="0"/>
                          <a:ea typeface="Calibri" pitchFamily="34" charset="-122"/>
                          <a:cs typeface="Calibri" pitchFamily="34" charset="-120"/>
                        </a:rPr>
                        <a:t>980 (across 500 rows)</a:t>
                      </a:r>
                      <a:endParaRPr lang="en-US" sz="125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EEF5F6"/>
                    </a:solidFill>
                  </a:tcPr>
                </a:tc>
                <a:extLst>
                  <a:ext uri="{0D108BD9-81ED-4DB2-BD59-A6C34878D82A}">
                    <a16:rowId xmlns:a16="http://schemas.microsoft.com/office/drawing/2014/main" val="10005"/>
                  </a:ext>
                </a:extLst>
              </a:tr>
            </a:tbl>
          </a:graphicData>
        </a:graphic>
      </p:graphicFrame>
      <p:sp>
        <p:nvSpPr>
          <p:cNvPr id="1048703" name="Text 6"/>
          <p:cNvSpPr/>
          <p:nvPr/>
        </p:nvSpPr>
        <p:spPr>
          <a:xfrm>
            <a:off x="6217920" y="4572000"/>
            <a:ext cx="5394960" cy="1371600"/>
          </a:xfrm>
          <a:prstGeom prst="rect">
            <a:avLst/>
          </a:prstGeom>
          <a:noFill/>
        </p:spPr>
        <p:txBody>
          <a:bodyPr wrap="square" lIns="0" tIns="0" rIns="0" bIns="0" rtlCol="0" anchor="ctr"/>
          <a:lstStyle/>
          <a:p>
            <a:pPr marL="0" indent="0">
              <a:lnSpc>
                <a:spcPct val="125000"/>
              </a:lnSpc>
              <a:buNone/>
            </a:pPr>
            <a:r>
              <a:rPr lang="en-US" sz="1250" i="1" dirty="0">
                <a:solidFill>
                  <a:srgbClr val="5B7280"/>
                </a:solidFill>
                <a:latin typeface="Calibri" pitchFamily="34" charset="0"/>
                <a:ea typeface="Calibri" pitchFamily="34" charset="-122"/>
                <a:cs typeface="Calibri" pitchFamily="34" charset="-120"/>
              </a:rPr>
              <a:t>Clean, complete records ensure the classification model is trained on reliable behavioral and academic signals — reducing bias from imputed or incomplete data.</a:t>
            </a:r>
            <a:endParaRPr lang="en-US" sz="1250" dirty="0"/>
          </a:p>
        </p:txBody>
      </p:sp>
      <p:sp>
        <p:nvSpPr>
          <p:cNvPr id="1048704" name="Text 7"/>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705" name="Text 8"/>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048709"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METHODOLOGY</a:t>
            </a:r>
            <a:endParaRPr lang="en-US" sz="1300" dirty="0"/>
          </a:p>
        </p:txBody>
      </p:sp>
      <p:sp>
        <p:nvSpPr>
          <p:cNvPr id="1048710"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EDA — Dropout vs. Non-Dropout Comparison</a:t>
            </a:r>
            <a:endParaRPr lang="en-US" sz="3000" dirty="0"/>
          </a:p>
        </p:txBody>
      </p:sp>
      <p:graphicFrame>
        <p:nvGraphicFramePr>
          <p:cNvPr id="4194305" name="Table 0"/>
          <p:cNvGraphicFramePr>
            <a:graphicFrameLocks noGrp="1"/>
          </p:cNvGraphicFramePr>
          <p:nvPr/>
        </p:nvGraphicFramePr>
        <p:xfrm>
          <a:off x="548640" y="1554480"/>
          <a:ext cx="11064240" cy="2651761"/>
        </p:xfrm>
        <a:graphic>
          <a:graphicData uri="http://schemas.openxmlformats.org/drawingml/2006/table">
            <a:tbl>
              <a:tblPr/>
              <a:tblGrid>
                <a:gridCol w="28346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378823">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Non-Dropout (0)</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Dropout (1)</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extLst>
                  <a:ext uri="{0D108BD9-81ED-4DB2-BD59-A6C34878D82A}">
                    <a16:rowId xmlns:a16="http://schemas.microsoft.com/office/drawing/2014/main" val="10000"/>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Attendance Rate (%)</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b="1" dirty="0">
                          <a:solidFill>
                            <a:srgbClr val="D64550"/>
                          </a:solidFill>
                          <a:latin typeface="Calibri" pitchFamily="34" charset="0"/>
                          <a:ea typeface="Calibri" pitchFamily="34" charset="-122"/>
                          <a:cs typeface="Calibri" pitchFamily="34" charset="-120"/>
                        </a:rPr>
                        <a:t>79.5</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Lower attendance among dropouts</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1"/>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Stress Index</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5.26</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b="1" dirty="0">
                          <a:solidFill>
                            <a:srgbClr val="D64550"/>
                          </a:solidFill>
                          <a:latin typeface="Calibri" pitchFamily="34" charset="0"/>
                          <a:ea typeface="Calibri" pitchFamily="34" charset="-122"/>
                          <a:cs typeface="Calibri" pitchFamily="34" charset="-120"/>
                        </a:rPr>
                        <a:t>6.31</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Higher stress among dropouts</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2"/>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Study Hours / Day</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4.08</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b="1" dirty="0">
                          <a:solidFill>
                            <a:srgbClr val="D64550"/>
                          </a:solidFill>
                          <a:latin typeface="Calibri" pitchFamily="34" charset="0"/>
                          <a:ea typeface="Calibri" pitchFamily="34" charset="-122"/>
                          <a:cs typeface="Calibri" pitchFamily="34" charset="-120"/>
                        </a:rPr>
                        <a:t>3.80</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Dropouts studied fewer hours</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3"/>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Assignment Delay (days)</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b="1" dirty="0">
                          <a:solidFill>
                            <a:srgbClr val="D64550"/>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Dropouts submitted assignments later</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4"/>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Family Income</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$38.5K</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$38.0K</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Minimal difference</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5"/>
                  </a:ext>
                </a:extLst>
              </a:tr>
              <a:tr h="378823">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Group Size</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7,259 (76.4%)</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2,241 (23.6%)</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Balanced target variable</a:t>
                      </a:r>
                      <a:endParaRPr lang="en-US" sz="12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48711" name="Shape 2"/>
          <p:cNvSpPr/>
          <p:nvPr/>
        </p:nvSpPr>
        <p:spPr>
          <a:xfrm>
            <a:off x="548640" y="4526280"/>
            <a:ext cx="2651760" cy="1691640"/>
          </a:xfrm>
          <a:prstGeom prst="roundRect">
            <a:avLst>
              <a:gd name="adj" fmla="val 4865"/>
            </a:avLst>
          </a:prstGeom>
          <a:solidFill>
            <a:srgbClr val="EEF5F6"/>
          </a:solidFill>
        </p:spPr>
      </p:sp>
      <p:sp>
        <p:nvSpPr>
          <p:cNvPr id="1048712" name="Shape 3"/>
          <p:cNvSpPr/>
          <p:nvPr/>
        </p:nvSpPr>
        <p:spPr>
          <a:xfrm>
            <a:off x="731520" y="4709160"/>
            <a:ext cx="411480" cy="411480"/>
          </a:xfrm>
          <a:prstGeom prst="ellipse">
            <a:avLst/>
          </a:prstGeom>
          <a:solidFill>
            <a:srgbClr val="FFFFFF"/>
          </a:solidFill>
        </p:spPr>
      </p:sp>
      <p:pic>
        <p:nvPicPr>
          <p:cNvPr id="2097167" name="Image 0" descr="preencoded.png"/>
          <p:cNvPicPr>
            <a:picLocks noChangeAspect="1"/>
          </p:cNvPicPr>
          <p:nvPr/>
        </p:nvPicPr>
        <p:blipFill>
          <a:blip r:embed="rId3"/>
          <a:stretch>
            <a:fillRect/>
          </a:stretch>
        </p:blipFill>
        <p:spPr>
          <a:xfrm>
            <a:off x="838505" y="4816145"/>
            <a:ext cx="197510" cy="197510"/>
          </a:xfrm>
          <a:prstGeom prst="rect">
            <a:avLst/>
          </a:prstGeom>
        </p:spPr>
      </p:pic>
      <p:sp>
        <p:nvSpPr>
          <p:cNvPr id="1048713" name="Text 4"/>
          <p:cNvSpPr/>
          <p:nvPr/>
        </p:nvSpPr>
        <p:spPr>
          <a:xfrm>
            <a:off x="731520" y="5193792"/>
            <a:ext cx="2331720" cy="502920"/>
          </a:xfrm>
          <a:prstGeom prst="rect">
            <a:avLst/>
          </a:prstGeom>
          <a:noFill/>
        </p:spPr>
        <p:txBody>
          <a:bodyPr wrap="square" lIns="0" tIns="0" rIns="0" bIns="0" rtlCol="0" anchor="ctr"/>
          <a:lstStyle/>
          <a:p>
            <a:pPr marL="0" indent="0">
              <a:lnSpc>
                <a:spcPct val="110000"/>
              </a:lnSpc>
              <a:buNone/>
            </a:pPr>
            <a:r>
              <a:rPr lang="en-US" sz="1150" b="1" dirty="0">
                <a:solidFill>
                  <a:srgbClr val="16324A"/>
                </a:solidFill>
                <a:latin typeface="Calibri" pitchFamily="34" charset="0"/>
                <a:ea typeface="Calibri" pitchFamily="34" charset="-122"/>
                <a:cs typeface="Calibri" pitchFamily="34" charset="-120"/>
              </a:rPr>
              <a:t>Stress = strongest differentiator</a:t>
            </a:r>
            <a:endParaRPr lang="en-US" sz="1150" dirty="0"/>
          </a:p>
        </p:txBody>
      </p:sp>
      <p:sp>
        <p:nvSpPr>
          <p:cNvPr id="1048714" name="Text 5"/>
          <p:cNvSpPr/>
          <p:nvPr/>
        </p:nvSpPr>
        <p:spPr>
          <a:xfrm>
            <a:off x="731520" y="5669280"/>
            <a:ext cx="2331720" cy="50292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Dropouts report ~20% higher stress than non-dropouts.</a:t>
            </a:r>
            <a:endParaRPr lang="en-US" sz="1000" dirty="0"/>
          </a:p>
        </p:txBody>
      </p:sp>
      <p:sp>
        <p:nvSpPr>
          <p:cNvPr id="1048715" name="Shape 6"/>
          <p:cNvSpPr/>
          <p:nvPr/>
        </p:nvSpPr>
        <p:spPr>
          <a:xfrm>
            <a:off x="3319272" y="4526280"/>
            <a:ext cx="2651760" cy="1691640"/>
          </a:xfrm>
          <a:prstGeom prst="roundRect">
            <a:avLst>
              <a:gd name="adj" fmla="val 4865"/>
            </a:avLst>
          </a:prstGeom>
          <a:solidFill>
            <a:srgbClr val="EEF5F6"/>
          </a:solidFill>
        </p:spPr>
      </p:sp>
      <p:sp>
        <p:nvSpPr>
          <p:cNvPr id="1048716" name="Shape 7"/>
          <p:cNvSpPr/>
          <p:nvPr/>
        </p:nvSpPr>
        <p:spPr>
          <a:xfrm>
            <a:off x="3502152" y="4709160"/>
            <a:ext cx="411480" cy="411480"/>
          </a:xfrm>
          <a:prstGeom prst="ellipse">
            <a:avLst/>
          </a:prstGeom>
          <a:solidFill>
            <a:srgbClr val="FFFFFF"/>
          </a:solidFill>
        </p:spPr>
      </p:sp>
      <p:pic>
        <p:nvPicPr>
          <p:cNvPr id="2097168" name="Image 1" descr="preencoded.png"/>
          <p:cNvPicPr>
            <a:picLocks noChangeAspect="1"/>
          </p:cNvPicPr>
          <p:nvPr/>
        </p:nvPicPr>
        <p:blipFill>
          <a:blip r:embed="rId4"/>
          <a:stretch>
            <a:fillRect/>
          </a:stretch>
        </p:blipFill>
        <p:spPr>
          <a:xfrm>
            <a:off x="3609137" y="4816145"/>
            <a:ext cx="197510" cy="197510"/>
          </a:xfrm>
          <a:prstGeom prst="rect">
            <a:avLst/>
          </a:prstGeom>
        </p:spPr>
      </p:pic>
      <p:sp>
        <p:nvSpPr>
          <p:cNvPr id="1048717" name="Text 8"/>
          <p:cNvSpPr/>
          <p:nvPr/>
        </p:nvSpPr>
        <p:spPr>
          <a:xfrm>
            <a:off x="3502152" y="5193792"/>
            <a:ext cx="2331720" cy="502920"/>
          </a:xfrm>
          <a:prstGeom prst="rect">
            <a:avLst/>
          </a:prstGeom>
          <a:noFill/>
        </p:spPr>
        <p:txBody>
          <a:bodyPr wrap="square" lIns="0" tIns="0" rIns="0" bIns="0" rtlCol="0" anchor="ctr"/>
          <a:lstStyle/>
          <a:p>
            <a:pPr marL="0" indent="0">
              <a:lnSpc>
                <a:spcPct val="110000"/>
              </a:lnSpc>
              <a:buNone/>
            </a:pPr>
            <a:r>
              <a:rPr lang="en-US" sz="1150" b="1" dirty="0">
                <a:solidFill>
                  <a:srgbClr val="16324A"/>
                </a:solidFill>
                <a:latin typeface="Calibri" pitchFamily="34" charset="0"/>
                <a:ea typeface="Calibri" pitchFamily="34" charset="-122"/>
                <a:cs typeface="Calibri" pitchFamily="34" charset="-120"/>
              </a:rPr>
              <a:t>Behavioral factors matter most</a:t>
            </a:r>
            <a:endParaRPr lang="en-US" sz="1150" dirty="0"/>
          </a:p>
        </p:txBody>
      </p:sp>
      <p:sp>
        <p:nvSpPr>
          <p:cNvPr id="1048718" name="Text 9"/>
          <p:cNvSpPr/>
          <p:nvPr/>
        </p:nvSpPr>
        <p:spPr>
          <a:xfrm>
            <a:off x="3502152" y="5669280"/>
            <a:ext cx="2331720" cy="50292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Attendance, study hours &amp; assignment delays show meaningful gaps.</a:t>
            </a:r>
            <a:endParaRPr lang="en-US" sz="1000" dirty="0"/>
          </a:p>
        </p:txBody>
      </p:sp>
      <p:sp>
        <p:nvSpPr>
          <p:cNvPr id="1048719" name="Shape 10"/>
          <p:cNvSpPr/>
          <p:nvPr/>
        </p:nvSpPr>
        <p:spPr>
          <a:xfrm>
            <a:off x="6089904" y="4526280"/>
            <a:ext cx="2651760" cy="1691640"/>
          </a:xfrm>
          <a:prstGeom prst="roundRect">
            <a:avLst>
              <a:gd name="adj" fmla="val 4865"/>
            </a:avLst>
          </a:prstGeom>
          <a:solidFill>
            <a:srgbClr val="EEF5F6"/>
          </a:solidFill>
        </p:spPr>
      </p:sp>
      <p:sp>
        <p:nvSpPr>
          <p:cNvPr id="1048720" name="Shape 11"/>
          <p:cNvSpPr/>
          <p:nvPr/>
        </p:nvSpPr>
        <p:spPr>
          <a:xfrm>
            <a:off x="6272784" y="4709160"/>
            <a:ext cx="411480" cy="411480"/>
          </a:xfrm>
          <a:prstGeom prst="ellipse">
            <a:avLst/>
          </a:prstGeom>
          <a:solidFill>
            <a:srgbClr val="FFFFFF"/>
          </a:solidFill>
        </p:spPr>
      </p:sp>
      <p:pic>
        <p:nvPicPr>
          <p:cNvPr id="2097169" name="Image 2" descr="preencoded.png"/>
          <p:cNvPicPr>
            <a:picLocks noChangeAspect="1"/>
          </p:cNvPicPr>
          <p:nvPr/>
        </p:nvPicPr>
        <p:blipFill>
          <a:blip r:embed="rId5"/>
          <a:stretch>
            <a:fillRect/>
          </a:stretch>
        </p:blipFill>
        <p:spPr>
          <a:xfrm>
            <a:off x="6379769" y="4816145"/>
            <a:ext cx="197510" cy="197510"/>
          </a:xfrm>
          <a:prstGeom prst="rect">
            <a:avLst/>
          </a:prstGeom>
        </p:spPr>
      </p:pic>
      <p:sp>
        <p:nvSpPr>
          <p:cNvPr id="1048721" name="Text 12"/>
          <p:cNvSpPr/>
          <p:nvPr/>
        </p:nvSpPr>
        <p:spPr>
          <a:xfrm>
            <a:off x="6272784" y="5193792"/>
            <a:ext cx="2331720" cy="502920"/>
          </a:xfrm>
          <a:prstGeom prst="rect">
            <a:avLst/>
          </a:prstGeom>
          <a:noFill/>
        </p:spPr>
        <p:txBody>
          <a:bodyPr wrap="square" lIns="0" tIns="0" rIns="0" bIns="0" rtlCol="0" anchor="ctr"/>
          <a:lstStyle/>
          <a:p>
            <a:pPr marL="0" indent="0">
              <a:lnSpc>
                <a:spcPct val="110000"/>
              </a:lnSpc>
              <a:buNone/>
            </a:pPr>
            <a:r>
              <a:rPr lang="en-US" sz="1150" b="1" dirty="0">
                <a:solidFill>
                  <a:srgbClr val="16324A"/>
                </a:solidFill>
                <a:latin typeface="Calibri" pitchFamily="34" charset="0"/>
                <a:ea typeface="Calibri" pitchFamily="34" charset="-122"/>
                <a:cs typeface="Calibri" pitchFamily="34" charset="-120"/>
              </a:rPr>
              <a:t>Income is a weak standalone predictor</a:t>
            </a:r>
            <a:endParaRPr lang="en-US" sz="1150" dirty="0"/>
          </a:p>
        </p:txBody>
      </p:sp>
      <p:sp>
        <p:nvSpPr>
          <p:cNvPr id="1048722" name="Text 13"/>
          <p:cNvSpPr/>
          <p:nvPr/>
        </p:nvSpPr>
        <p:spPr>
          <a:xfrm>
            <a:off x="6272784" y="5669280"/>
            <a:ext cx="2331720" cy="50292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Needs interaction analysis with jobs / scholarship status.</a:t>
            </a:r>
            <a:endParaRPr lang="en-US" sz="1000" dirty="0"/>
          </a:p>
        </p:txBody>
      </p:sp>
      <p:sp>
        <p:nvSpPr>
          <p:cNvPr id="1048723" name="Shape 14"/>
          <p:cNvSpPr/>
          <p:nvPr/>
        </p:nvSpPr>
        <p:spPr>
          <a:xfrm>
            <a:off x="8860536" y="4526280"/>
            <a:ext cx="2651760" cy="1691640"/>
          </a:xfrm>
          <a:prstGeom prst="roundRect">
            <a:avLst>
              <a:gd name="adj" fmla="val 4865"/>
            </a:avLst>
          </a:prstGeom>
          <a:solidFill>
            <a:srgbClr val="EEF5F6"/>
          </a:solidFill>
        </p:spPr>
      </p:sp>
      <p:sp>
        <p:nvSpPr>
          <p:cNvPr id="1048724" name="Shape 15"/>
          <p:cNvSpPr/>
          <p:nvPr/>
        </p:nvSpPr>
        <p:spPr>
          <a:xfrm>
            <a:off x="9043416" y="4709160"/>
            <a:ext cx="411480" cy="411480"/>
          </a:xfrm>
          <a:prstGeom prst="ellipse">
            <a:avLst/>
          </a:prstGeom>
          <a:solidFill>
            <a:srgbClr val="FFFFFF"/>
          </a:solidFill>
        </p:spPr>
      </p:sp>
      <p:pic>
        <p:nvPicPr>
          <p:cNvPr id="2097170" name="Image 3" descr="preencoded.png"/>
          <p:cNvPicPr>
            <a:picLocks noChangeAspect="1"/>
          </p:cNvPicPr>
          <p:nvPr/>
        </p:nvPicPr>
        <p:blipFill>
          <a:blip r:embed="rId6"/>
          <a:stretch>
            <a:fillRect/>
          </a:stretch>
        </p:blipFill>
        <p:spPr>
          <a:xfrm>
            <a:off x="9150401" y="4816145"/>
            <a:ext cx="197510" cy="197510"/>
          </a:xfrm>
          <a:prstGeom prst="rect">
            <a:avLst/>
          </a:prstGeom>
        </p:spPr>
      </p:pic>
      <p:sp>
        <p:nvSpPr>
          <p:cNvPr id="1048725" name="Text 16"/>
          <p:cNvSpPr/>
          <p:nvPr/>
        </p:nvSpPr>
        <p:spPr>
          <a:xfrm>
            <a:off x="9043416" y="5193792"/>
            <a:ext cx="2331720" cy="502920"/>
          </a:xfrm>
          <a:prstGeom prst="rect">
            <a:avLst/>
          </a:prstGeom>
          <a:noFill/>
        </p:spPr>
        <p:txBody>
          <a:bodyPr wrap="square" lIns="0" tIns="0" rIns="0" bIns="0" rtlCol="0" anchor="ctr"/>
          <a:lstStyle/>
          <a:p>
            <a:pPr marL="0" indent="0">
              <a:lnSpc>
                <a:spcPct val="110000"/>
              </a:lnSpc>
              <a:buNone/>
            </a:pPr>
            <a:r>
              <a:rPr lang="en-US" sz="1150" b="1" dirty="0">
                <a:solidFill>
                  <a:srgbClr val="16324A"/>
                </a:solidFill>
                <a:latin typeface="Calibri" pitchFamily="34" charset="0"/>
                <a:ea typeface="Calibri" pitchFamily="34" charset="-122"/>
                <a:cs typeface="Calibri" pitchFamily="34" charset="-120"/>
              </a:rPr>
              <a:t>Gender shows no meaningful bias</a:t>
            </a:r>
            <a:endParaRPr lang="en-US" sz="1150" dirty="0"/>
          </a:p>
        </p:txBody>
      </p:sp>
      <p:sp>
        <p:nvSpPr>
          <p:cNvPr id="1048726" name="Text 17"/>
          <p:cNvSpPr/>
          <p:nvPr/>
        </p:nvSpPr>
        <p:spPr>
          <a:xfrm>
            <a:off x="9043416" y="5669280"/>
            <a:ext cx="2331720" cy="50292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Dropout patterns are consistent across male &amp; female students.</a:t>
            </a:r>
            <a:endParaRPr lang="en-US" sz="1000" dirty="0"/>
          </a:p>
        </p:txBody>
      </p:sp>
      <p:sp>
        <p:nvSpPr>
          <p:cNvPr id="1048727" name="Text 18"/>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728" name="Text 19"/>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4873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METHODOLOGY</a:t>
            </a:r>
            <a:endParaRPr lang="en-US" sz="1300" dirty="0"/>
          </a:p>
        </p:txBody>
      </p:sp>
      <p:sp>
        <p:nvSpPr>
          <p:cNvPr id="1048733"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Predictive </a:t>
            </a:r>
            <a:r>
              <a:rPr lang="en-US" sz="3000" b="1" dirty="0" smtClean="0">
                <a:solidFill>
                  <a:srgbClr val="16324A"/>
                </a:solidFill>
                <a:latin typeface="Cambria" pitchFamily="34" charset="0"/>
                <a:ea typeface="Cambria" pitchFamily="34" charset="-122"/>
                <a:cs typeface="Cambria" pitchFamily="34" charset="-120"/>
              </a:rPr>
              <a:t>Classification</a:t>
            </a:r>
            <a:r>
              <a:rPr lang="en-US" sz="3000" b="1" dirty="0" smtClean="0">
                <a:solidFill>
                  <a:srgbClr val="16324A"/>
                </a:solidFill>
                <a:latin typeface="Cambria" pitchFamily="34" charset="0"/>
                <a:ea typeface="Cambria" pitchFamily="34" charset="-122"/>
                <a:cs typeface="Cambria" pitchFamily="34" charset="-120"/>
              </a:rPr>
              <a:t> </a:t>
            </a:r>
            <a:r>
              <a:rPr lang="en-US" sz="3000" b="1" dirty="0">
                <a:solidFill>
                  <a:srgbClr val="16324A"/>
                </a:solidFill>
                <a:latin typeface="Cambria" pitchFamily="34" charset="0"/>
                <a:ea typeface="Cambria" pitchFamily="34" charset="-122"/>
                <a:cs typeface="Cambria" pitchFamily="34" charset="-120"/>
              </a:rPr>
              <a:t>— Key Findings</a:t>
            </a:r>
            <a:endParaRPr lang="en-US" sz="3000" dirty="0"/>
          </a:p>
        </p:txBody>
      </p:sp>
      <p:sp>
        <p:nvSpPr>
          <p:cNvPr id="1048734" name="Text 2"/>
          <p:cNvSpPr/>
          <p:nvPr/>
        </p:nvSpPr>
        <p:spPr>
          <a:xfrm>
            <a:off x="548640" y="1417320"/>
            <a:ext cx="7315200" cy="320040"/>
          </a:xfrm>
          <a:prstGeom prst="rect">
            <a:avLst/>
          </a:prstGeom>
          <a:noFill/>
        </p:spPr>
        <p:txBody>
          <a:bodyPr wrap="square" lIns="0" tIns="0" rIns="0" bIns="0" rtlCol="0" anchor="ctr"/>
          <a:lstStyle/>
          <a:p>
            <a:pPr marL="0" indent="0">
              <a:buNone/>
            </a:pPr>
            <a:r>
              <a:rPr lang="en-US" sz="1200" i="1" dirty="0">
                <a:solidFill>
                  <a:srgbClr val="5B7280"/>
                </a:solidFill>
                <a:latin typeface="Calibri" pitchFamily="34" charset="0"/>
                <a:ea typeface="Calibri" pitchFamily="34" charset="-122"/>
                <a:cs typeface="Calibri" pitchFamily="34" charset="-120"/>
              </a:rPr>
              <a:t>Dataset: 9,500 students  |  Dropout rate: 23.6% (2,241 students)</a:t>
            </a:r>
            <a:endParaRPr lang="en-US" sz="1200" dirty="0"/>
          </a:p>
        </p:txBody>
      </p:sp>
      <p:graphicFrame>
        <p:nvGraphicFramePr>
          <p:cNvPr id="4194306" name="Table 0"/>
          <p:cNvGraphicFramePr>
            <a:graphicFrameLocks noGrp="1"/>
          </p:cNvGraphicFramePr>
          <p:nvPr/>
        </p:nvGraphicFramePr>
        <p:xfrm>
          <a:off x="548640" y="1828800"/>
          <a:ext cx="7315200" cy="4480560"/>
        </p:xfrm>
        <a:graphic>
          <a:graphicData uri="http://schemas.openxmlformats.org/drawingml/2006/table">
            <a:tbl>
              <a:tblPr/>
              <a:tblGrid>
                <a:gridCol w="21945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978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solidFill>
                      <a:srgbClr val="16324A"/>
                    </a:solidFill>
                  </a:tcPr>
                </a:tc>
                <a:extLst>
                  <a:ext uri="{0D108BD9-81ED-4DB2-BD59-A6C34878D82A}">
                    <a16:rowId xmlns:a16="http://schemas.microsoft.com/office/drawing/2014/main" val="10000"/>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Stress Index</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Strongest link to dropout — dropout students average ~6.3 vs ~5.3 for those who stayed, true for both genders.</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1"/>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Internet Access</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No access → 28.4% dropout vs. 22.9% with access. Clear gap.</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2"/>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Part-Time Job</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Job holders drop out more (25.6%) vs. no job (22.2%).</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3"/>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Scholarship</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Small protective effect: 23.3% (with) vs. 23.8% (without).</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4"/>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Gender</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No real difference (Female 23.8% vs. Male 23.4%).</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5"/>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Department</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Even across all 5 departments (~23–24%). No standout.</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6"/>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Attendance &amp; Study Hours</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Lower attendance / study time trends toward higher dropout risk.</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7"/>
                  </a:ext>
                </a:extLst>
              </a:tr>
              <a:tr h="4978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Assignment Delays</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Frequent delays skew toward the dropout group.</a:t>
                      </a:r>
                      <a:endParaRPr lang="en-US" sz="1100" dirty="0">
                        <a:latin typeface="Calibri" charset="0"/>
                        <a:ea typeface="Calibri" charset="0"/>
                        <a:cs typeface="Calibri" charset="0"/>
                      </a:endParaRPr>
                    </a:p>
                  </a:txBody>
                  <a:tcPr anchor="ctr">
                    <a:lnL w="9525" cap="flat" cmpd="sng" algn="ctr">
                      <a:solidFill>
                        <a:srgbClr val="DCE7E9"/>
                      </a:solidFill>
                      <a:prstDash val="solid"/>
                      <a:round/>
                      <a:headEnd type="none" w="med" len="med"/>
                      <a:tailEnd type="none" w="med" len="med"/>
                    </a:lnL>
                    <a:lnR w="9525" cap="flat" cmpd="sng" algn="ctr">
                      <a:solidFill>
                        <a:srgbClr val="DCE7E9"/>
                      </a:solidFill>
                      <a:prstDash val="solid"/>
                      <a:round/>
                      <a:headEnd type="none" w="med" len="med"/>
                      <a:tailEnd type="none" w="med" len="med"/>
                    </a:lnR>
                    <a:lnT w="9525" cap="flat" cmpd="sng" algn="ctr">
                      <a:solidFill>
                        <a:srgbClr val="DCE7E9"/>
                      </a:solidFill>
                      <a:prstDash val="solid"/>
                      <a:round/>
                      <a:headEnd type="none" w="med" len="med"/>
                      <a:tailEnd type="none" w="med" len="med"/>
                    </a:lnT>
                    <a:lnB w="9525" cap="flat" cmpd="sng" algn="ctr">
                      <a:solidFill>
                        <a:srgbClr val="DCE7E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48735" name="Shape 3"/>
          <p:cNvSpPr/>
          <p:nvPr/>
        </p:nvSpPr>
        <p:spPr>
          <a:xfrm>
            <a:off x="8138160" y="1828800"/>
            <a:ext cx="3474720" cy="4480560"/>
          </a:xfrm>
          <a:prstGeom prst="roundRect">
            <a:avLst>
              <a:gd name="adj" fmla="val 2632"/>
            </a:avLst>
          </a:prstGeom>
          <a:solidFill>
            <a:srgbClr val="16324A"/>
          </a:solidFill>
        </p:spPr>
      </p:sp>
      <p:sp>
        <p:nvSpPr>
          <p:cNvPr id="1048736" name="Shape 4"/>
          <p:cNvSpPr/>
          <p:nvPr/>
        </p:nvSpPr>
        <p:spPr>
          <a:xfrm>
            <a:off x="8366760" y="2057400"/>
            <a:ext cx="502920" cy="502920"/>
          </a:xfrm>
          <a:prstGeom prst="ellipse">
            <a:avLst/>
          </a:prstGeom>
          <a:solidFill>
            <a:srgbClr val="1C7293"/>
          </a:solidFill>
        </p:spPr>
      </p:sp>
      <p:pic>
        <p:nvPicPr>
          <p:cNvPr id="2097171" name="Image 0" descr="preencoded.png"/>
          <p:cNvPicPr>
            <a:picLocks noChangeAspect="1"/>
          </p:cNvPicPr>
          <p:nvPr/>
        </p:nvPicPr>
        <p:blipFill>
          <a:blip r:embed="rId3"/>
          <a:stretch>
            <a:fillRect/>
          </a:stretch>
        </p:blipFill>
        <p:spPr>
          <a:xfrm>
            <a:off x="8497519" y="2188159"/>
            <a:ext cx="241402" cy="241402"/>
          </a:xfrm>
          <a:prstGeom prst="rect">
            <a:avLst/>
          </a:prstGeom>
        </p:spPr>
      </p:pic>
      <p:sp>
        <p:nvSpPr>
          <p:cNvPr id="1048737" name="Text 5"/>
          <p:cNvSpPr/>
          <p:nvPr/>
        </p:nvSpPr>
        <p:spPr>
          <a:xfrm>
            <a:off x="8366760" y="2651760"/>
            <a:ext cx="3017520" cy="411480"/>
          </a:xfrm>
          <a:prstGeom prst="rect">
            <a:avLst/>
          </a:prstGeom>
          <a:noFill/>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Bottom Line</a:t>
            </a:r>
            <a:endParaRPr lang="en-US" sz="1600" dirty="0"/>
          </a:p>
        </p:txBody>
      </p:sp>
      <p:sp>
        <p:nvSpPr>
          <p:cNvPr id="1048738" name="Text 6"/>
          <p:cNvSpPr/>
          <p:nvPr/>
        </p:nvSpPr>
        <p:spPr>
          <a:xfrm>
            <a:off x="8366760" y="3108960"/>
            <a:ext cx="3017520" cy="1188720"/>
          </a:xfrm>
          <a:prstGeom prst="rect">
            <a:avLst/>
          </a:prstGeom>
          <a:noFill/>
        </p:spPr>
        <p:txBody>
          <a:bodyPr wrap="square" lIns="0" tIns="0" rIns="0" bIns="0" rtlCol="0" anchor="ctr"/>
          <a:lstStyle/>
          <a:p>
            <a:pPr marL="0" indent="0">
              <a:lnSpc>
                <a:spcPct val="125000"/>
              </a:lnSpc>
              <a:buNone/>
            </a:pPr>
            <a:r>
              <a:rPr lang="en-US" sz="1300" dirty="0">
                <a:solidFill>
                  <a:srgbClr val="CADCE6"/>
                </a:solidFill>
                <a:latin typeface="Calibri" pitchFamily="34" charset="0"/>
                <a:ea typeface="Calibri" pitchFamily="34" charset="-122"/>
                <a:cs typeface="Calibri" pitchFamily="34" charset="-120"/>
              </a:rPr>
              <a:t>Dropout is driven mainly by stress, lack of internet access, and part-time work.</a:t>
            </a:r>
            <a:endParaRPr lang="en-US" sz="1300" dirty="0"/>
          </a:p>
        </p:txBody>
      </p:sp>
      <p:sp>
        <p:nvSpPr>
          <p:cNvPr id="1048739" name="Text 7"/>
          <p:cNvSpPr/>
          <p:nvPr/>
        </p:nvSpPr>
        <p:spPr>
          <a:xfrm>
            <a:off x="8366760" y="4343400"/>
            <a:ext cx="3017520" cy="1737360"/>
          </a:xfrm>
          <a:prstGeom prst="rect">
            <a:avLst/>
          </a:prstGeom>
          <a:noFill/>
        </p:spPr>
        <p:txBody>
          <a:bodyPr wrap="square" lIns="0" tIns="0" rIns="0" bIns="0" rtlCol="0" anchor="ctr"/>
          <a:lstStyle/>
          <a:p>
            <a:pPr marL="0" indent="0">
              <a:lnSpc>
                <a:spcPct val="125000"/>
              </a:lnSpc>
              <a:buNone/>
            </a:pPr>
            <a:r>
              <a:rPr lang="en-US" sz="1200" dirty="0">
                <a:solidFill>
                  <a:srgbClr val="A9C2CE"/>
                </a:solidFill>
                <a:latin typeface="Calibri" pitchFamily="34" charset="0"/>
                <a:ea typeface="Calibri" pitchFamily="34" charset="-122"/>
                <a:cs typeface="Calibri" pitchFamily="34" charset="-120"/>
              </a:rPr>
              <a:t>Demographic factors — gender, department, parental background — show little to no effect on their own, reducing concerns about bias in the model.</a:t>
            </a:r>
            <a:endParaRPr lang="en-US" sz="1200" dirty="0"/>
          </a:p>
        </p:txBody>
      </p:sp>
      <p:sp>
        <p:nvSpPr>
          <p:cNvPr id="1048740" name="Text 8"/>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741" name="Text 9"/>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048745"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RISK DASHBOARD</a:t>
            </a:r>
            <a:endParaRPr lang="en-US" sz="1300" dirty="0"/>
          </a:p>
        </p:txBody>
      </p:sp>
      <p:sp>
        <p:nvSpPr>
          <p:cNvPr id="1048746"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Dropout Diagnostic Drivers by Quartile</a:t>
            </a:r>
            <a:endParaRPr lang="en-US" sz="3000" dirty="0"/>
          </a:p>
        </p:txBody>
      </p:sp>
      <p:graphicFrame>
        <p:nvGraphicFramePr>
          <p:cNvPr id="4194307" name="Chart 0"/>
          <p:cNvGraphicFramePr>
            <a:graphicFrameLocks/>
          </p:cNvGraphicFramePr>
          <p:nvPr/>
        </p:nvGraphicFramePr>
        <p:xfrm>
          <a:off x="457200" y="1508760"/>
          <a:ext cx="539496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94308" name="Chart 1"/>
          <p:cNvGraphicFramePr>
            <a:graphicFrameLocks/>
          </p:cNvGraphicFramePr>
          <p:nvPr/>
        </p:nvGraphicFramePr>
        <p:xfrm>
          <a:off x="6126480" y="1508760"/>
          <a:ext cx="5394960" cy="2331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194309" name="Chart 2"/>
          <p:cNvGraphicFramePr>
            <a:graphicFrameLocks/>
          </p:cNvGraphicFramePr>
          <p:nvPr/>
        </p:nvGraphicFramePr>
        <p:xfrm>
          <a:off x="457200" y="4069080"/>
          <a:ext cx="5394960" cy="23317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194310" name="Chart 3"/>
          <p:cNvGraphicFramePr>
            <a:graphicFrameLocks/>
          </p:cNvGraphicFramePr>
          <p:nvPr/>
        </p:nvGraphicFramePr>
        <p:xfrm>
          <a:off x="6126480" y="4069080"/>
          <a:ext cx="5394960" cy="2331720"/>
        </p:xfrm>
        <a:graphic>
          <a:graphicData uri="http://schemas.openxmlformats.org/drawingml/2006/chart">
            <c:chart xmlns:c="http://schemas.openxmlformats.org/drawingml/2006/chart" xmlns:r="http://schemas.openxmlformats.org/officeDocument/2006/relationships" r:id="rId6"/>
          </a:graphicData>
        </a:graphic>
      </p:graphicFrame>
      <p:sp>
        <p:nvSpPr>
          <p:cNvPr id="1048747" name="Text 2"/>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748" name="Text 3"/>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104875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RISK DASHBOARD</a:t>
            </a:r>
            <a:endParaRPr lang="en-US" sz="1300" dirty="0"/>
          </a:p>
        </p:txBody>
      </p:sp>
      <p:sp>
        <p:nvSpPr>
          <p:cNvPr id="1048753"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Risk Tiering &amp; the Early Warning Dashboard</a:t>
            </a:r>
            <a:endParaRPr lang="en-US" sz="3000" dirty="0"/>
          </a:p>
        </p:txBody>
      </p:sp>
      <p:sp>
        <p:nvSpPr>
          <p:cNvPr id="1048754" name="Text 2"/>
          <p:cNvSpPr/>
          <p:nvPr/>
        </p:nvSpPr>
        <p:spPr>
          <a:xfrm>
            <a:off x="548640" y="1554480"/>
            <a:ext cx="5486400" cy="1920240"/>
          </a:xfrm>
          <a:prstGeom prst="rect">
            <a:avLst/>
          </a:prstGeom>
          <a:noFill/>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The Early Warning Dashboard categorises students into Low, Medium, and High dropout-risk tiers using model-generated probability scores. It enables academic advisors to quickly identify students requiring immediate attention while displaying the major factors contributing to each student's risk score — allowing institutions to prioritise interventions where they will have the greatest impact.</a:t>
            </a:r>
            <a:endParaRPr lang="en-US" sz="1350" dirty="0"/>
          </a:p>
        </p:txBody>
      </p:sp>
      <p:sp>
        <p:nvSpPr>
          <p:cNvPr id="1048755" name="Shape 3"/>
          <p:cNvSpPr/>
          <p:nvPr/>
        </p:nvSpPr>
        <p:spPr>
          <a:xfrm>
            <a:off x="548640" y="3703320"/>
            <a:ext cx="292608" cy="292608"/>
          </a:xfrm>
          <a:prstGeom prst="ellipse">
            <a:avLst/>
          </a:prstGeom>
          <a:solidFill>
            <a:srgbClr val="D64550"/>
          </a:solidFill>
        </p:spPr>
      </p:sp>
      <p:sp>
        <p:nvSpPr>
          <p:cNvPr id="1048756" name="Text 4"/>
          <p:cNvSpPr/>
          <p:nvPr/>
        </p:nvSpPr>
        <p:spPr>
          <a:xfrm>
            <a:off x="1005840" y="3630168"/>
            <a:ext cx="18288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Critical Risk</a:t>
            </a:r>
            <a:endParaRPr lang="en-US" sz="1250" dirty="0"/>
          </a:p>
        </p:txBody>
      </p:sp>
      <p:sp>
        <p:nvSpPr>
          <p:cNvPr id="1048757" name="Text 5"/>
          <p:cNvSpPr/>
          <p:nvPr/>
        </p:nvSpPr>
        <p:spPr>
          <a:xfrm>
            <a:off x="2834640" y="3630168"/>
            <a:ext cx="3200400" cy="50292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Poor performance — immediate intervention required.</a:t>
            </a:r>
            <a:endParaRPr lang="en-US" sz="1050" dirty="0"/>
          </a:p>
        </p:txBody>
      </p:sp>
      <p:sp>
        <p:nvSpPr>
          <p:cNvPr id="1048758" name="Shape 6"/>
          <p:cNvSpPr/>
          <p:nvPr/>
        </p:nvSpPr>
        <p:spPr>
          <a:xfrm>
            <a:off x="548640" y="4325112"/>
            <a:ext cx="292608" cy="292608"/>
          </a:xfrm>
          <a:prstGeom prst="ellipse">
            <a:avLst/>
          </a:prstGeom>
          <a:solidFill>
            <a:srgbClr val="F2A541"/>
          </a:solidFill>
        </p:spPr>
      </p:sp>
      <p:sp>
        <p:nvSpPr>
          <p:cNvPr id="1048759" name="Text 7"/>
          <p:cNvSpPr/>
          <p:nvPr/>
        </p:nvSpPr>
        <p:spPr>
          <a:xfrm>
            <a:off x="1005840" y="4251960"/>
            <a:ext cx="18288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Moderate Risk</a:t>
            </a:r>
            <a:endParaRPr lang="en-US" sz="1250" dirty="0"/>
          </a:p>
        </p:txBody>
      </p:sp>
      <p:sp>
        <p:nvSpPr>
          <p:cNvPr id="1048760" name="Text 8"/>
          <p:cNvSpPr/>
          <p:nvPr/>
        </p:nvSpPr>
        <p:spPr>
          <a:xfrm>
            <a:off x="2834640" y="4251960"/>
            <a:ext cx="3200400" cy="50292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Below target — requires prompt support and close monitoring.</a:t>
            </a:r>
            <a:endParaRPr lang="en-US" sz="1050" dirty="0"/>
          </a:p>
        </p:txBody>
      </p:sp>
      <p:sp>
        <p:nvSpPr>
          <p:cNvPr id="1048761" name="Shape 9"/>
          <p:cNvSpPr/>
          <p:nvPr/>
        </p:nvSpPr>
        <p:spPr>
          <a:xfrm>
            <a:off x="548640" y="4946904"/>
            <a:ext cx="292608" cy="292608"/>
          </a:xfrm>
          <a:prstGeom prst="ellipse">
            <a:avLst/>
          </a:prstGeom>
          <a:solidFill>
            <a:srgbClr val="E8C93A"/>
          </a:solidFill>
        </p:spPr>
      </p:sp>
      <p:sp>
        <p:nvSpPr>
          <p:cNvPr id="1048762" name="Text 10"/>
          <p:cNvSpPr/>
          <p:nvPr/>
        </p:nvSpPr>
        <p:spPr>
          <a:xfrm>
            <a:off x="1005840" y="4873752"/>
            <a:ext cx="18288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Low-Moderate Risk</a:t>
            </a:r>
            <a:endParaRPr lang="en-US" sz="1250" dirty="0"/>
          </a:p>
        </p:txBody>
      </p:sp>
      <p:sp>
        <p:nvSpPr>
          <p:cNvPr id="1048763" name="Text 11"/>
          <p:cNvSpPr/>
          <p:nvPr/>
        </p:nvSpPr>
        <p:spPr>
          <a:xfrm>
            <a:off x="2834640" y="4873752"/>
            <a:ext cx="3200400" cy="50292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Fair performance, some concerns — periodic monitoring.</a:t>
            </a:r>
            <a:endParaRPr lang="en-US" sz="1050" dirty="0"/>
          </a:p>
        </p:txBody>
      </p:sp>
      <p:sp>
        <p:nvSpPr>
          <p:cNvPr id="1048764" name="Shape 12"/>
          <p:cNvSpPr/>
          <p:nvPr/>
        </p:nvSpPr>
        <p:spPr>
          <a:xfrm>
            <a:off x="548640" y="5568696"/>
            <a:ext cx="292608" cy="292608"/>
          </a:xfrm>
          <a:prstGeom prst="ellipse">
            <a:avLst/>
          </a:prstGeom>
          <a:solidFill>
            <a:srgbClr val="3EA55B"/>
          </a:solidFill>
        </p:spPr>
      </p:sp>
      <p:sp>
        <p:nvSpPr>
          <p:cNvPr id="1048765" name="Text 13"/>
          <p:cNvSpPr/>
          <p:nvPr/>
        </p:nvSpPr>
        <p:spPr>
          <a:xfrm>
            <a:off x="1005840" y="5495544"/>
            <a:ext cx="18288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Minimal Risk</a:t>
            </a:r>
            <a:endParaRPr lang="en-US" sz="1250" dirty="0"/>
          </a:p>
        </p:txBody>
      </p:sp>
      <p:sp>
        <p:nvSpPr>
          <p:cNvPr id="1048766" name="Text 14"/>
          <p:cNvSpPr/>
          <p:nvPr/>
        </p:nvSpPr>
        <p:spPr>
          <a:xfrm>
            <a:off x="2834640" y="5495544"/>
            <a:ext cx="3200400" cy="502920"/>
          </a:xfrm>
          <a:prstGeom prst="rect">
            <a:avLst/>
          </a:prstGeom>
          <a:noFill/>
        </p:spPr>
        <p:txBody>
          <a:bodyPr wrap="square" lIns="0" tIns="0" rIns="0" bIns="0" rtlCol="0" anchor="ctr"/>
          <a:lstStyle/>
          <a:p>
            <a:pPr marL="0" indent="0">
              <a:lnSpc>
                <a:spcPct val="110000"/>
              </a:lnSpc>
              <a:buNone/>
            </a:pPr>
            <a:r>
              <a:rPr lang="en-US" sz="1050" dirty="0">
                <a:solidFill>
                  <a:srgbClr val="5B7280"/>
                </a:solidFill>
                <a:latin typeface="Calibri" pitchFamily="34" charset="0"/>
                <a:ea typeface="Calibri" pitchFamily="34" charset="-122"/>
                <a:cs typeface="Calibri" pitchFamily="34" charset="-120"/>
              </a:rPr>
              <a:t>Good performance, on target, progressing well.</a:t>
            </a:r>
            <a:endParaRPr lang="en-US" sz="1050" dirty="0"/>
          </a:p>
        </p:txBody>
      </p:sp>
      <p:sp>
        <p:nvSpPr>
          <p:cNvPr id="1048767" name="Shape 15"/>
          <p:cNvSpPr/>
          <p:nvPr/>
        </p:nvSpPr>
        <p:spPr>
          <a:xfrm>
            <a:off x="6492240" y="1554480"/>
            <a:ext cx="5120640" cy="4663440"/>
          </a:xfrm>
          <a:prstGeom prst="roundRect">
            <a:avLst>
              <a:gd name="adj" fmla="val 1961"/>
            </a:avLst>
          </a:prstGeom>
          <a:solidFill>
            <a:srgbClr val="16324A"/>
          </a:solidFill>
        </p:spPr>
      </p:sp>
      <p:sp>
        <p:nvSpPr>
          <p:cNvPr id="1048768" name="Text 16"/>
          <p:cNvSpPr/>
          <p:nvPr/>
        </p:nvSpPr>
        <p:spPr>
          <a:xfrm>
            <a:off x="6766560" y="1783080"/>
            <a:ext cx="4572000" cy="411480"/>
          </a:xfrm>
          <a:prstGeom prst="rect">
            <a:avLst/>
          </a:prstGeom>
          <a:noFill/>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How Advisors Use It</a:t>
            </a:r>
            <a:endParaRPr lang="en-US" sz="1600" dirty="0"/>
          </a:p>
        </p:txBody>
      </p:sp>
      <p:sp>
        <p:nvSpPr>
          <p:cNvPr id="1048769" name="Shape 17"/>
          <p:cNvSpPr/>
          <p:nvPr/>
        </p:nvSpPr>
        <p:spPr>
          <a:xfrm>
            <a:off x="6766560" y="2377440"/>
            <a:ext cx="384048" cy="384048"/>
          </a:xfrm>
          <a:prstGeom prst="ellipse">
            <a:avLst/>
          </a:prstGeom>
          <a:solidFill>
            <a:srgbClr val="1C7293"/>
          </a:solidFill>
        </p:spPr>
      </p:sp>
      <p:sp>
        <p:nvSpPr>
          <p:cNvPr id="1048770" name="Text 18"/>
          <p:cNvSpPr/>
          <p:nvPr/>
        </p:nvSpPr>
        <p:spPr>
          <a:xfrm>
            <a:off x="6766560" y="2377440"/>
            <a:ext cx="384048" cy="384048"/>
          </a:xfrm>
          <a:prstGeom prst="rect">
            <a:avLst/>
          </a:prstGeom>
          <a:noFill/>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48771" name="Text 19"/>
          <p:cNvSpPr/>
          <p:nvPr/>
        </p:nvSpPr>
        <p:spPr>
          <a:xfrm>
            <a:off x="7315200" y="2331720"/>
            <a:ext cx="4023360" cy="685800"/>
          </a:xfrm>
          <a:prstGeom prst="rect">
            <a:avLst/>
          </a:prstGeom>
          <a:noFill/>
        </p:spPr>
        <p:txBody>
          <a:bodyPr wrap="square" lIns="0" tIns="0" rIns="0" bIns="0" rtlCol="0" anchor="t"/>
          <a:lstStyle/>
          <a:p>
            <a:pPr marL="0" indent="0">
              <a:lnSpc>
                <a:spcPct val="120000"/>
              </a:lnSpc>
              <a:buNone/>
            </a:pPr>
            <a:r>
              <a:rPr lang="en-US" sz="1200" dirty="0">
                <a:solidFill>
                  <a:srgbClr val="CADCE6"/>
                </a:solidFill>
                <a:latin typeface="Calibri" pitchFamily="34" charset="0"/>
                <a:ea typeface="Calibri" pitchFamily="34" charset="-122"/>
                <a:cs typeface="Calibri" pitchFamily="34" charset="-120"/>
              </a:rPr>
              <a:t>View each student's risk score and assigned tier (Low / Medium / High).</a:t>
            </a:r>
            <a:endParaRPr lang="en-US" sz="1200" dirty="0"/>
          </a:p>
        </p:txBody>
      </p:sp>
      <p:sp>
        <p:nvSpPr>
          <p:cNvPr id="1048772" name="Shape 20"/>
          <p:cNvSpPr/>
          <p:nvPr/>
        </p:nvSpPr>
        <p:spPr>
          <a:xfrm>
            <a:off x="6766560" y="3154680"/>
            <a:ext cx="384048" cy="384048"/>
          </a:xfrm>
          <a:prstGeom prst="ellipse">
            <a:avLst/>
          </a:prstGeom>
          <a:solidFill>
            <a:srgbClr val="1C7293"/>
          </a:solidFill>
        </p:spPr>
      </p:sp>
      <p:sp>
        <p:nvSpPr>
          <p:cNvPr id="1048773" name="Text 21"/>
          <p:cNvSpPr/>
          <p:nvPr/>
        </p:nvSpPr>
        <p:spPr>
          <a:xfrm>
            <a:off x="6766560" y="3154680"/>
            <a:ext cx="384048" cy="384048"/>
          </a:xfrm>
          <a:prstGeom prst="rect">
            <a:avLst/>
          </a:prstGeom>
          <a:noFill/>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48774" name="Text 22"/>
          <p:cNvSpPr/>
          <p:nvPr/>
        </p:nvSpPr>
        <p:spPr>
          <a:xfrm>
            <a:off x="7315200" y="3108960"/>
            <a:ext cx="4023360" cy="685800"/>
          </a:xfrm>
          <a:prstGeom prst="rect">
            <a:avLst/>
          </a:prstGeom>
          <a:noFill/>
        </p:spPr>
        <p:txBody>
          <a:bodyPr wrap="square" lIns="0" tIns="0" rIns="0" bIns="0" rtlCol="0" anchor="t"/>
          <a:lstStyle/>
          <a:p>
            <a:pPr marL="0" indent="0">
              <a:lnSpc>
                <a:spcPct val="120000"/>
              </a:lnSpc>
              <a:buNone/>
            </a:pPr>
            <a:r>
              <a:rPr lang="en-US" sz="1200" dirty="0">
                <a:solidFill>
                  <a:srgbClr val="CADCE6"/>
                </a:solidFill>
                <a:latin typeface="Calibri" pitchFamily="34" charset="0"/>
                <a:ea typeface="Calibri" pitchFamily="34" charset="-122"/>
                <a:cs typeface="Calibri" pitchFamily="34" charset="-120"/>
              </a:rPr>
              <a:t>Review the key contributing factors driving that score.</a:t>
            </a:r>
            <a:endParaRPr lang="en-US" sz="1200" dirty="0"/>
          </a:p>
        </p:txBody>
      </p:sp>
      <p:sp>
        <p:nvSpPr>
          <p:cNvPr id="1048775" name="Shape 23"/>
          <p:cNvSpPr/>
          <p:nvPr/>
        </p:nvSpPr>
        <p:spPr>
          <a:xfrm>
            <a:off x="6766560" y="3931920"/>
            <a:ext cx="384048" cy="384048"/>
          </a:xfrm>
          <a:prstGeom prst="ellipse">
            <a:avLst/>
          </a:prstGeom>
          <a:solidFill>
            <a:srgbClr val="1C7293"/>
          </a:solidFill>
        </p:spPr>
      </p:sp>
      <p:sp>
        <p:nvSpPr>
          <p:cNvPr id="1048776" name="Text 24"/>
          <p:cNvSpPr/>
          <p:nvPr/>
        </p:nvSpPr>
        <p:spPr>
          <a:xfrm>
            <a:off x="6766560" y="3931920"/>
            <a:ext cx="384048" cy="384048"/>
          </a:xfrm>
          <a:prstGeom prst="rect">
            <a:avLst/>
          </a:prstGeom>
          <a:noFill/>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048777" name="Text 25"/>
          <p:cNvSpPr/>
          <p:nvPr/>
        </p:nvSpPr>
        <p:spPr>
          <a:xfrm>
            <a:off x="7315200" y="3886200"/>
            <a:ext cx="4023360" cy="685800"/>
          </a:xfrm>
          <a:prstGeom prst="rect">
            <a:avLst/>
          </a:prstGeom>
          <a:noFill/>
        </p:spPr>
        <p:txBody>
          <a:bodyPr wrap="square" lIns="0" tIns="0" rIns="0" bIns="0" rtlCol="0" anchor="t"/>
          <a:lstStyle/>
          <a:p>
            <a:pPr marL="0" indent="0">
              <a:lnSpc>
                <a:spcPct val="120000"/>
              </a:lnSpc>
              <a:buNone/>
            </a:pPr>
            <a:r>
              <a:rPr lang="en-US" sz="1200" dirty="0">
                <a:solidFill>
                  <a:srgbClr val="CADCE6"/>
                </a:solidFill>
                <a:latin typeface="Calibri" pitchFamily="34" charset="0"/>
                <a:ea typeface="Calibri" pitchFamily="34" charset="-122"/>
                <a:cs typeface="Calibri" pitchFamily="34" charset="-120"/>
              </a:rPr>
              <a:t>Prioritise outreach for High-risk students first, directing limited support resources where impact is greatest.</a:t>
            </a:r>
            <a:endParaRPr lang="en-US" sz="1200" dirty="0"/>
          </a:p>
        </p:txBody>
      </p:sp>
      <p:sp>
        <p:nvSpPr>
          <p:cNvPr id="1048778" name="Shape 26"/>
          <p:cNvSpPr/>
          <p:nvPr/>
        </p:nvSpPr>
        <p:spPr>
          <a:xfrm>
            <a:off x="6766560" y="4709160"/>
            <a:ext cx="384048" cy="384048"/>
          </a:xfrm>
          <a:prstGeom prst="ellipse">
            <a:avLst/>
          </a:prstGeom>
          <a:solidFill>
            <a:srgbClr val="1C7293"/>
          </a:solidFill>
        </p:spPr>
      </p:sp>
      <p:sp>
        <p:nvSpPr>
          <p:cNvPr id="1048779" name="Text 27"/>
          <p:cNvSpPr/>
          <p:nvPr/>
        </p:nvSpPr>
        <p:spPr>
          <a:xfrm>
            <a:off x="6766560" y="4709160"/>
            <a:ext cx="384048" cy="384048"/>
          </a:xfrm>
          <a:prstGeom prst="rect">
            <a:avLst/>
          </a:prstGeom>
          <a:noFill/>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048780" name="Text 28"/>
          <p:cNvSpPr/>
          <p:nvPr/>
        </p:nvSpPr>
        <p:spPr>
          <a:xfrm>
            <a:off x="7315200" y="4663440"/>
            <a:ext cx="4023360" cy="685800"/>
          </a:xfrm>
          <a:prstGeom prst="rect">
            <a:avLst/>
          </a:prstGeom>
          <a:noFill/>
        </p:spPr>
        <p:txBody>
          <a:bodyPr wrap="square" lIns="0" tIns="0" rIns="0" bIns="0" rtlCol="0" anchor="t"/>
          <a:lstStyle/>
          <a:p>
            <a:pPr marL="0" indent="0">
              <a:lnSpc>
                <a:spcPct val="120000"/>
              </a:lnSpc>
              <a:buNone/>
            </a:pPr>
            <a:r>
              <a:rPr lang="en-US" sz="1200" dirty="0">
                <a:solidFill>
                  <a:srgbClr val="CADCE6"/>
                </a:solidFill>
                <a:latin typeface="Calibri" pitchFamily="34" charset="0"/>
                <a:ea typeface="Calibri" pitchFamily="34" charset="-122"/>
                <a:cs typeface="Calibri" pitchFamily="34" charset="-120"/>
              </a:rPr>
              <a:t>Apply the non-punitive Intervention Guide matched to the student's risk tier.</a:t>
            </a:r>
            <a:endParaRPr lang="en-US" sz="1200" dirty="0"/>
          </a:p>
        </p:txBody>
      </p:sp>
      <p:sp>
        <p:nvSpPr>
          <p:cNvPr id="1048781" name="Text 29"/>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782" name="Text 30"/>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1048786"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RISK DASHBOARD</a:t>
            </a:r>
            <a:endParaRPr lang="en-US" sz="1300" dirty="0"/>
          </a:p>
        </p:txBody>
      </p:sp>
      <p:sp>
        <p:nvSpPr>
          <p:cNvPr id="1048787"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Recommendations</a:t>
            </a:r>
            <a:endParaRPr lang="en-US" sz="3000" dirty="0"/>
          </a:p>
        </p:txBody>
      </p:sp>
      <p:sp>
        <p:nvSpPr>
          <p:cNvPr id="1048788" name="Shape 2"/>
          <p:cNvSpPr/>
          <p:nvPr/>
        </p:nvSpPr>
        <p:spPr>
          <a:xfrm>
            <a:off x="548640" y="1554480"/>
            <a:ext cx="5440680" cy="4617720"/>
          </a:xfrm>
          <a:prstGeom prst="roundRect">
            <a:avLst>
              <a:gd name="adj" fmla="val 1980"/>
            </a:avLst>
          </a:prstGeom>
          <a:solidFill>
            <a:srgbClr val="FDEEEC"/>
          </a:solidFill>
        </p:spPr>
      </p:sp>
      <p:sp>
        <p:nvSpPr>
          <p:cNvPr id="1048789" name="Shape 3"/>
          <p:cNvSpPr/>
          <p:nvPr/>
        </p:nvSpPr>
        <p:spPr>
          <a:xfrm>
            <a:off x="822960" y="1810512"/>
            <a:ext cx="502920" cy="502920"/>
          </a:xfrm>
          <a:prstGeom prst="ellipse">
            <a:avLst/>
          </a:prstGeom>
          <a:solidFill>
            <a:srgbClr val="FFFFFF"/>
          </a:solidFill>
        </p:spPr>
      </p:sp>
      <p:pic>
        <p:nvPicPr>
          <p:cNvPr id="2097172" name="Image 0" descr="preencoded.png"/>
          <p:cNvPicPr>
            <a:picLocks noChangeAspect="1"/>
          </p:cNvPicPr>
          <p:nvPr/>
        </p:nvPicPr>
        <p:blipFill>
          <a:blip r:embed="rId3"/>
          <a:stretch>
            <a:fillRect/>
          </a:stretch>
        </p:blipFill>
        <p:spPr>
          <a:xfrm>
            <a:off x="953719" y="1941271"/>
            <a:ext cx="241402" cy="241402"/>
          </a:xfrm>
          <a:prstGeom prst="rect">
            <a:avLst/>
          </a:prstGeom>
        </p:spPr>
      </p:pic>
      <p:sp>
        <p:nvSpPr>
          <p:cNvPr id="1048790" name="Text 4"/>
          <p:cNvSpPr/>
          <p:nvPr/>
        </p:nvSpPr>
        <p:spPr>
          <a:xfrm>
            <a:off x="1463040" y="1847088"/>
            <a:ext cx="3657600" cy="438912"/>
          </a:xfrm>
          <a:prstGeom prst="rect">
            <a:avLst/>
          </a:prstGeom>
          <a:noFill/>
        </p:spPr>
        <p:txBody>
          <a:bodyPr wrap="square" lIns="0" tIns="0" rIns="0" bIns="0" rtlCol="0" anchor="ctr"/>
          <a:lstStyle/>
          <a:p>
            <a:pPr marL="0" indent="0">
              <a:buNone/>
            </a:pPr>
            <a:r>
              <a:rPr lang="en-US" sz="1700" b="1" dirty="0">
                <a:solidFill>
                  <a:srgbClr val="D64550"/>
                </a:solidFill>
                <a:latin typeface="Cambria" pitchFamily="34" charset="0"/>
                <a:ea typeface="Cambria" pitchFamily="34" charset="-122"/>
                <a:cs typeface="Cambria" pitchFamily="34" charset="-120"/>
              </a:rPr>
              <a:t>High Priority</a:t>
            </a:r>
            <a:endParaRPr lang="en-US" sz="1700" dirty="0"/>
          </a:p>
        </p:txBody>
      </p:sp>
      <p:sp>
        <p:nvSpPr>
          <p:cNvPr id="1048791" name="Text 5"/>
          <p:cNvSpPr/>
          <p:nvPr/>
        </p:nvSpPr>
        <p:spPr>
          <a:xfrm>
            <a:off x="822960" y="251460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Launch an early-warning CGPA alert system — auto-flag students below ~1.5 CGPA or a full-band drop, routed to advisors within 2 weeks.</a:t>
            </a:r>
            <a:endParaRPr lang="en-US" sz="1250" dirty="0"/>
          </a:p>
        </p:txBody>
      </p:sp>
      <p:sp>
        <p:nvSpPr>
          <p:cNvPr id="1048792" name="Text 6"/>
          <p:cNvSpPr/>
          <p:nvPr/>
        </p:nvSpPr>
        <p:spPr>
          <a:xfrm>
            <a:off x="822960" y="374904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Attendance-triggered outreach — automatic advisor check-in when attendance falls below 80%.</a:t>
            </a:r>
            <a:endParaRPr lang="en-US" sz="1250" dirty="0"/>
          </a:p>
        </p:txBody>
      </p:sp>
      <p:sp>
        <p:nvSpPr>
          <p:cNvPr id="1048793" name="Text 7"/>
          <p:cNvSpPr/>
          <p:nvPr/>
        </p:nvSpPr>
        <p:spPr>
          <a:xfrm>
            <a:off x="822960" y="498348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Expand mental health &amp; stress-management support — proactive counseling and stress screening each semester.</a:t>
            </a:r>
            <a:endParaRPr lang="en-US" sz="1250" dirty="0"/>
          </a:p>
        </p:txBody>
      </p:sp>
      <p:sp>
        <p:nvSpPr>
          <p:cNvPr id="1048794" name="Shape 8"/>
          <p:cNvSpPr/>
          <p:nvPr/>
        </p:nvSpPr>
        <p:spPr>
          <a:xfrm>
            <a:off x="6172200" y="1554480"/>
            <a:ext cx="5440680" cy="4617720"/>
          </a:xfrm>
          <a:prstGeom prst="roundRect">
            <a:avLst>
              <a:gd name="adj" fmla="val 1980"/>
            </a:avLst>
          </a:prstGeom>
          <a:solidFill>
            <a:srgbClr val="FEF6E6"/>
          </a:solidFill>
        </p:spPr>
      </p:sp>
      <p:sp>
        <p:nvSpPr>
          <p:cNvPr id="1048795" name="Shape 9"/>
          <p:cNvSpPr/>
          <p:nvPr/>
        </p:nvSpPr>
        <p:spPr>
          <a:xfrm>
            <a:off x="6446520" y="1810512"/>
            <a:ext cx="502920" cy="502920"/>
          </a:xfrm>
          <a:prstGeom prst="ellipse">
            <a:avLst/>
          </a:prstGeom>
          <a:solidFill>
            <a:srgbClr val="FFFFFF"/>
          </a:solidFill>
        </p:spPr>
      </p:sp>
      <p:pic>
        <p:nvPicPr>
          <p:cNvPr id="2097173" name="Image 1" descr="preencoded.png"/>
          <p:cNvPicPr>
            <a:picLocks noChangeAspect="1"/>
          </p:cNvPicPr>
          <p:nvPr/>
        </p:nvPicPr>
        <p:blipFill>
          <a:blip r:embed="rId4"/>
          <a:stretch>
            <a:fillRect/>
          </a:stretch>
        </p:blipFill>
        <p:spPr>
          <a:xfrm>
            <a:off x="6577279" y="1941271"/>
            <a:ext cx="241402" cy="241402"/>
          </a:xfrm>
          <a:prstGeom prst="rect">
            <a:avLst/>
          </a:prstGeom>
        </p:spPr>
      </p:pic>
      <p:sp>
        <p:nvSpPr>
          <p:cNvPr id="1048796" name="Text 10"/>
          <p:cNvSpPr/>
          <p:nvPr/>
        </p:nvSpPr>
        <p:spPr>
          <a:xfrm>
            <a:off x="7086600" y="1847088"/>
            <a:ext cx="4114800" cy="438912"/>
          </a:xfrm>
          <a:prstGeom prst="rect">
            <a:avLst/>
          </a:prstGeom>
          <a:noFill/>
        </p:spPr>
        <p:txBody>
          <a:bodyPr wrap="square" lIns="0" tIns="0" rIns="0" bIns="0" rtlCol="0" anchor="ctr"/>
          <a:lstStyle/>
          <a:p>
            <a:pPr marL="0" indent="0">
              <a:buNone/>
            </a:pPr>
            <a:r>
              <a:rPr lang="en-US" sz="1700" b="1" dirty="0">
                <a:solidFill>
                  <a:srgbClr val="F2A541"/>
                </a:solidFill>
                <a:latin typeface="Cambria" pitchFamily="34" charset="0"/>
                <a:ea typeface="Cambria" pitchFamily="34" charset="-122"/>
                <a:cs typeface="Cambria" pitchFamily="34" charset="-120"/>
              </a:rPr>
              <a:t>Medium Priority</a:t>
            </a:r>
            <a:endParaRPr lang="en-US" sz="1700" dirty="0"/>
          </a:p>
        </p:txBody>
      </p:sp>
      <p:sp>
        <p:nvSpPr>
          <p:cNvPr id="1048797" name="Text 11"/>
          <p:cNvSpPr/>
          <p:nvPr/>
        </p:nvSpPr>
        <p:spPr>
          <a:xfrm>
            <a:off x="6446520" y="251460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Study-skills &amp; time-management coaching for students studying under 3 hours/day.</a:t>
            </a:r>
            <a:endParaRPr lang="en-US" sz="1250" dirty="0"/>
          </a:p>
        </p:txBody>
      </p:sp>
      <p:sp>
        <p:nvSpPr>
          <p:cNvPr id="1048798" name="Text 12"/>
          <p:cNvSpPr/>
          <p:nvPr/>
        </p:nvSpPr>
        <p:spPr>
          <a:xfrm>
            <a:off x="6446520" y="374904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Assignment-delay monitoring — treat 3+ day repeated lateness as an early behavioral flag.</a:t>
            </a:r>
            <a:endParaRPr lang="en-US" sz="1250" dirty="0"/>
          </a:p>
        </p:txBody>
      </p:sp>
      <p:sp>
        <p:nvSpPr>
          <p:cNvPr id="1048799" name="Text 13"/>
          <p:cNvSpPr/>
          <p:nvPr/>
        </p:nvSpPr>
        <p:spPr>
          <a:xfrm>
            <a:off x="6446520" y="4983480"/>
            <a:ext cx="4892040" cy="1097280"/>
          </a:xfrm>
          <a:prstGeom prst="rect">
            <a:avLst/>
          </a:prstGeom>
          <a:noFill/>
        </p:spPr>
        <p:txBody>
          <a:bodyPr wrap="square" lIns="0" tIns="0" rIns="0" bIns="0" rtlCol="0" anchor="t"/>
          <a:lstStyle/>
          <a:p>
            <a:pPr marL="342900" indent="-342900">
              <a:lnSpc>
                <a:spcPct val="120000"/>
              </a:lnSpc>
              <a:buSzPct val="100000"/>
              <a:buChar char="●"/>
            </a:pPr>
            <a:r>
              <a:rPr lang="en-US" sz="1250" dirty="0">
                <a:solidFill>
                  <a:srgbClr val="1E293B"/>
                </a:solidFill>
                <a:latin typeface="Calibri" pitchFamily="34" charset="0"/>
                <a:ea typeface="Calibri" pitchFamily="34" charset="-122"/>
                <a:cs typeface="Calibri" pitchFamily="34" charset="-120"/>
              </a:rPr>
              <a:t>Close the digital-access and work-life gap with subsidized internet/devices and flexible scheduling.</a:t>
            </a:r>
            <a:endParaRPr lang="en-US" sz="1250" dirty="0"/>
          </a:p>
        </p:txBody>
      </p:sp>
      <p:sp>
        <p:nvSpPr>
          <p:cNvPr id="1048800" name="Text 14"/>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801" name="Text 15"/>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048805"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ADVISOR SUPPORT</a:t>
            </a:r>
            <a:endParaRPr lang="en-US" sz="1300" dirty="0"/>
          </a:p>
        </p:txBody>
      </p:sp>
      <p:sp>
        <p:nvSpPr>
          <p:cNvPr id="1048806"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Intervention Guide Summary</a:t>
            </a:r>
            <a:endParaRPr lang="en-US" sz="3000" dirty="0"/>
          </a:p>
        </p:txBody>
      </p:sp>
      <p:sp>
        <p:nvSpPr>
          <p:cNvPr id="1048807" name="Text 2"/>
          <p:cNvSpPr/>
          <p:nvPr/>
        </p:nvSpPr>
        <p:spPr>
          <a:xfrm>
            <a:off x="548640" y="1508760"/>
            <a:ext cx="11064240" cy="1051560"/>
          </a:xfrm>
          <a:prstGeom prst="rect">
            <a:avLst/>
          </a:prstGeom>
          <a:noFill/>
        </p:spPr>
        <p:txBody>
          <a:bodyPr wrap="square" lIns="0" tIns="0" rIns="0" bIns="0" rtlCol="0" anchor="ctr"/>
          <a:lstStyle/>
          <a:p>
            <a:pPr marL="0" indent="0">
              <a:lnSpc>
                <a:spcPct val="125000"/>
              </a:lnSpc>
              <a:buNone/>
            </a:pPr>
            <a:r>
              <a:rPr lang="en-US" sz="1300" dirty="0">
                <a:solidFill>
                  <a:srgbClr val="1E293B"/>
                </a:solidFill>
                <a:latin typeface="Calibri" pitchFamily="34" charset="0"/>
                <a:ea typeface="Calibri" pitchFamily="34" charset="-122"/>
                <a:cs typeface="Calibri" pitchFamily="34" charset="-120"/>
              </a:rPr>
              <a:t>A separate advisor-facing Intervention Guide was produced to accompany the dashboard, providing plain-language explanations for each risk tier, common warning indicators, practical non-punitive advisor actions, and suggested follow-up strategies. The objective is to encourage supportive engagement rather than punitive action, promoting student success through timely intervention.</a:t>
            </a:r>
            <a:endParaRPr lang="en-US" sz="1300" dirty="0"/>
          </a:p>
        </p:txBody>
      </p:sp>
      <p:sp>
        <p:nvSpPr>
          <p:cNvPr id="1048808" name="Shape 3"/>
          <p:cNvSpPr/>
          <p:nvPr/>
        </p:nvSpPr>
        <p:spPr>
          <a:xfrm>
            <a:off x="548640" y="2743200"/>
            <a:ext cx="3566160" cy="1737360"/>
          </a:xfrm>
          <a:prstGeom prst="roundRect">
            <a:avLst>
              <a:gd name="adj" fmla="val 4737"/>
            </a:avLst>
          </a:prstGeom>
          <a:solidFill>
            <a:srgbClr val="EEF5F6"/>
          </a:solidFill>
        </p:spPr>
      </p:sp>
      <p:sp>
        <p:nvSpPr>
          <p:cNvPr id="1048809" name="Shape 4"/>
          <p:cNvSpPr/>
          <p:nvPr/>
        </p:nvSpPr>
        <p:spPr>
          <a:xfrm>
            <a:off x="749808" y="2926080"/>
            <a:ext cx="457200" cy="457200"/>
          </a:xfrm>
          <a:prstGeom prst="ellipse">
            <a:avLst/>
          </a:prstGeom>
          <a:solidFill>
            <a:srgbClr val="FFFFFF"/>
          </a:solidFill>
        </p:spPr>
      </p:sp>
      <p:pic>
        <p:nvPicPr>
          <p:cNvPr id="2097174" name="Image 0" descr="preencoded.png"/>
          <p:cNvPicPr>
            <a:picLocks noChangeAspect="1"/>
          </p:cNvPicPr>
          <p:nvPr/>
        </p:nvPicPr>
        <p:blipFill>
          <a:blip r:embed="rId3"/>
          <a:stretch>
            <a:fillRect/>
          </a:stretch>
        </p:blipFill>
        <p:spPr>
          <a:xfrm>
            <a:off x="868680" y="3044952"/>
            <a:ext cx="219456" cy="219456"/>
          </a:xfrm>
          <a:prstGeom prst="rect">
            <a:avLst/>
          </a:prstGeom>
        </p:spPr>
      </p:pic>
      <p:sp>
        <p:nvSpPr>
          <p:cNvPr id="1048810" name="Text 5"/>
          <p:cNvSpPr/>
          <p:nvPr/>
        </p:nvSpPr>
        <p:spPr>
          <a:xfrm>
            <a:off x="749808" y="352044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Academic Performance</a:t>
            </a:r>
            <a:endParaRPr lang="en-US" sz="1250" dirty="0"/>
          </a:p>
        </p:txBody>
      </p:sp>
      <p:sp>
        <p:nvSpPr>
          <p:cNvPr id="1048811" name="Text 6"/>
          <p:cNvSpPr/>
          <p:nvPr/>
        </p:nvSpPr>
        <p:spPr>
          <a:xfrm>
            <a:off x="749808" y="388620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Support students with low academic performance — they are the most likely to drop out.</a:t>
            </a:r>
            <a:endParaRPr lang="en-US" sz="1000" dirty="0"/>
          </a:p>
        </p:txBody>
      </p:sp>
      <p:sp>
        <p:nvSpPr>
          <p:cNvPr id="1048812" name="Shape 7"/>
          <p:cNvSpPr/>
          <p:nvPr/>
        </p:nvSpPr>
        <p:spPr>
          <a:xfrm>
            <a:off x="4343400" y="2743200"/>
            <a:ext cx="3566160" cy="1737360"/>
          </a:xfrm>
          <a:prstGeom prst="roundRect">
            <a:avLst>
              <a:gd name="adj" fmla="val 4737"/>
            </a:avLst>
          </a:prstGeom>
          <a:solidFill>
            <a:srgbClr val="EEF5F6"/>
          </a:solidFill>
        </p:spPr>
      </p:sp>
      <p:sp>
        <p:nvSpPr>
          <p:cNvPr id="1048813" name="Shape 8"/>
          <p:cNvSpPr/>
          <p:nvPr/>
        </p:nvSpPr>
        <p:spPr>
          <a:xfrm>
            <a:off x="4544568" y="2926080"/>
            <a:ext cx="457200" cy="457200"/>
          </a:xfrm>
          <a:prstGeom prst="ellipse">
            <a:avLst/>
          </a:prstGeom>
          <a:solidFill>
            <a:srgbClr val="FFFFFF"/>
          </a:solidFill>
        </p:spPr>
      </p:sp>
      <p:pic>
        <p:nvPicPr>
          <p:cNvPr id="2097175" name="Image 1" descr="preencoded.png"/>
          <p:cNvPicPr>
            <a:picLocks noChangeAspect="1"/>
          </p:cNvPicPr>
          <p:nvPr/>
        </p:nvPicPr>
        <p:blipFill>
          <a:blip r:embed="rId4"/>
          <a:stretch>
            <a:fillRect/>
          </a:stretch>
        </p:blipFill>
        <p:spPr>
          <a:xfrm>
            <a:off x="4663440" y="3044952"/>
            <a:ext cx="219456" cy="219456"/>
          </a:xfrm>
          <a:prstGeom prst="rect">
            <a:avLst/>
          </a:prstGeom>
        </p:spPr>
      </p:pic>
      <p:sp>
        <p:nvSpPr>
          <p:cNvPr id="1048814" name="Text 9"/>
          <p:cNvSpPr/>
          <p:nvPr/>
        </p:nvSpPr>
        <p:spPr>
          <a:xfrm>
            <a:off x="4544568" y="352044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Attendance Monitoring</a:t>
            </a:r>
            <a:endParaRPr lang="en-US" sz="1250" dirty="0"/>
          </a:p>
        </p:txBody>
      </p:sp>
      <p:sp>
        <p:nvSpPr>
          <p:cNvPr id="1048815" name="Text 10"/>
          <p:cNvSpPr/>
          <p:nvPr/>
        </p:nvSpPr>
        <p:spPr>
          <a:xfrm>
            <a:off x="4544568" y="388620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Monitor attendance regularly and assist students whose attendance starts to decline.</a:t>
            </a:r>
            <a:endParaRPr lang="en-US" sz="1000" dirty="0"/>
          </a:p>
        </p:txBody>
      </p:sp>
      <p:sp>
        <p:nvSpPr>
          <p:cNvPr id="1048816" name="Shape 11"/>
          <p:cNvSpPr/>
          <p:nvPr/>
        </p:nvSpPr>
        <p:spPr>
          <a:xfrm>
            <a:off x="8138160" y="2743200"/>
            <a:ext cx="3566160" cy="1737360"/>
          </a:xfrm>
          <a:prstGeom prst="roundRect">
            <a:avLst>
              <a:gd name="adj" fmla="val 4737"/>
            </a:avLst>
          </a:prstGeom>
          <a:solidFill>
            <a:srgbClr val="EEF5F6"/>
          </a:solidFill>
        </p:spPr>
      </p:sp>
      <p:sp>
        <p:nvSpPr>
          <p:cNvPr id="1048817" name="Shape 12"/>
          <p:cNvSpPr/>
          <p:nvPr/>
        </p:nvSpPr>
        <p:spPr>
          <a:xfrm>
            <a:off x="8339328" y="2926080"/>
            <a:ext cx="457200" cy="457200"/>
          </a:xfrm>
          <a:prstGeom prst="ellipse">
            <a:avLst/>
          </a:prstGeom>
          <a:solidFill>
            <a:srgbClr val="FFFFFF"/>
          </a:solidFill>
        </p:spPr>
      </p:sp>
      <p:pic>
        <p:nvPicPr>
          <p:cNvPr id="2097176" name="Image 2" descr="preencoded.png"/>
          <p:cNvPicPr>
            <a:picLocks noChangeAspect="1"/>
          </p:cNvPicPr>
          <p:nvPr/>
        </p:nvPicPr>
        <p:blipFill>
          <a:blip r:embed="rId5"/>
          <a:stretch>
            <a:fillRect/>
          </a:stretch>
        </p:blipFill>
        <p:spPr>
          <a:xfrm>
            <a:off x="8458200" y="3044952"/>
            <a:ext cx="219456" cy="219456"/>
          </a:xfrm>
          <a:prstGeom prst="rect">
            <a:avLst/>
          </a:prstGeom>
        </p:spPr>
      </p:pic>
      <p:sp>
        <p:nvSpPr>
          <p:cNvPr id="1048818" name="Text 13"/>
          <p:cNvSpPr/>
          <p:nvPr/>
        </p:nvSpPr>
        <p:spPr>
          <a:xfrm>
            <a:off x="8339328" y="352044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Stress &amp; Wellbeing</a:t>
            </a:r>
            <a:endParaRPr lang="en-US" sz="1250" dirty="0"/>
          </a:p>
        </p:txBody>
      </p:sp>
      <p:sp>
        <p:nvSpPr>
          <p:cNvPr id="1048819" name="Text 14"/>
          <p:cNvSpPr/>
          <p:nvPr/>
        </p:nvSpPr>
        <p:spPr>
          <a:xfrm>
            <a:off x="8339328" y="388620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Provide stress management and counselling services to help students cope with academic pressure.</a:t>
            </a:r>
            <a:endParaRPr lang="en-US" sz="1000" dirty="0"/>
          </a:p>
        </p:txBody>
      </p:sp>
      <p:sp>
        <p:nvSpPr>
          <p:cNvPr id="1048820" name="Shape 15"/>
          <p:cNvSpPr/>
          <p:nvPr/>
        </p:nvSpPr>
        <p:spPr>
          <a:xfrm>
            <a:off x="548640" y="4663440"/>
            <a:ext cx="3566160" cy="1737360"/>
          </a:xfrm>
          <a:prstGeom prst="roundRect">
            <a:avLst>
              <a:gd name="adj" fmla="val 4737"/>
            </a:avLst>
          </a:prstGeom>
          <a:solidFill>
            <a:srgbClr val="EEF5F6"/>
          </a:solidFill>
        </p:spPr>
      </p:sp>
      <p:sp>
        <p:nvSpPr>
          <p:cNvPr id="1048821" name="Shape 16"/>
          <p:cNvSpPr/>
          <p:nvPr/>
        </p:nvSpPr>
        <p:spPr>
          <a:xfrm>
            <a:off x="749808" y="4846320"/>
            <a:ext cx="457200" cy="457200"/>
          </a:xfrm>
          <a:prstGeom prst="ellipse">
            <a:avLst/>
          </a:prstGeom>
          <a:solidFill>
            <a:srgbClr val="FFFFFF"/>
          </a:solidFill>
        </p:spPr>
      </p:sp>
      <p:pic>
        <p:nvPicPr>
          <p:cNvPr id="2097177" name="Image 3" descr="preencoded.png"/>
          <p:cNvPicPr>
            <a:picLocks noChangeAspect="1"/>
          </p:cNvPicPr>
          <p:nvPr/>
        </p:nvPicPr>
        <p:blipFill>
          <a:blip r:embed="rId6"/>
          <a:stretch>
            <a:fillRect/>
          </a:stretch>
        </p:blipFill>
        <p:spPr>
          <a:xfrm>
            <a:off x="868680" y="4965192"/>
            <a:ext cx="219456" cy="219456"/>
          </a:xfrm>
          <a:prstGeom prst="rect">
            <a:avLst/>
          </a:prstGeom>
        </p:spPr>
      </p:pic>
      <p:sp>
        <p:nvSpPr>
          <p:cNvPr id="1048822" name="Text 17"/>
          <p:cNvSpPr/>
          <p:nvPr/>
        </p:nvSpPr>
        <p:spPr>
          <a:xfrm>
            <a:off x="749808" y="544068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Study Habits</a:t>
            </a:r>
            <a:endParaRPr lang="en-US" sz="1250" dirty="0"/>
          </a:p>
        </p:txBody>
      </p:sp>
      <p:sp>
        <p:nvSpPr>
          <p:cNvPr id="1048823" name="Text 18"/>
          <p:cNvSpPr/>
          <p:nvPr/>
        </p:nvSpPr>
        <p:spPr>
          <a:xfrm>
            <a:off x="749808" y="580644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Encourage consistent study habits by promoting regular daily study time.</a:t>
            </a:r>
            <a:endParaRPr lang="en-US" sz="1000" dirty="0"/>
          </a:p>
        </p:txBody>
      </p:sp>
      <p:sp>
        <p:nvSpPr>
          <p:cNvPr id="1048824" name="Shape 19"/>
          <p:cNvSpPr/>
          <p:nvPr/>
        </p:nvSpPr>
        <p:spPr>
          <a:xfrm>
            <a:off x="4343400" y="4663440"/>
            <a:ext cx="3566160" cy="1737360"/>
          </a:xfrm>
          <a:prstGeom prst="roundRect">
            <a:avLst>
              <a:gd name="adj" fmla="val 4737"/>
            </a:avLst>
          </a:prstGeom>
          <a:solidFill>
            <a:srgbClr val="EEF5F6"/>
          </a:solidFill>
        </p:spPr>
      </p:sp>
      <p:sp>
        <p:nvSpPr>
          <p:cNvPr id="1048825" name="Shape 20"/>
          <p:cNvSpPr/>
          <p:nvPr/>
        </p:nvSpPr>
        <p:spPr>
          <a:xfrm>
            <a:off x="4544568" y="4846320"/>
            <a:ext cx="457200" cy="457200"/>
          </a:xfrm>
          <a:prstGeom prst="ellipse">
            <a:avLst/>
          </a:prstGeom>
          <a:solidFill>
            <a:srgbClr val="FFFFFF"/>
          </a:solidFill>
        </p:spPr>
      </p:sp>
      <p:pic>
        <p:nvPicPr>
          <p:cNvPr id="2097178" name="Image 4" descr="preencoded.png"/>
          <p:cNvPicPr>
            <a:picLocks noChangeAspect="1"/>
          </p:cNvPicPr>
          <p:nvPr/>
        </p:nvPicPr>
        <p:blipFill>
          <a:blip r:embed="rId7"/>
          <a:stretch>
            <a:fillRect/>
          </a:stretch>
        </p:blipFill>
        <p:spPr>
          <a:xfrm>
            <a:off x="4663440" y="4965192"/>
            <a:ext cx="219456" cy="219456"/>
          </a:xfrm>
          <a:prstGeom prst="rect">
            <a:avLst/>
          </a:prstGeom>
        </p:spPr>
      </p:pic>
      <p:sp>
        <p:nvSpPr>
          <p:cNvPr id="1048826" name="Text 21"/>
          <p:cNvSpPr/>
          <p:nvPr/>
        </p:nvSpPr>
        <p:spPr>
          <a:xfrm>
            <a:off x="4544568" y="544068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Assignment Follow-up</a:t>
            </a:r>
            <a:endParaRPr lang="en-US" sz="1250" dirty="0"/>
          </a:p>
        </p:txBody>
      </p:sp>
      <p:sp>
        <p:nvSpPr>
          <p:cNvPr id="1048827" name="Text 22"/>
          <p:cNvSpPr/>
          <p:nvPr/>
        </p:nvSpPr>
        <p:spPr>
          <a:xfrm>
            <a:off x="4544568" y="580644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Follow up on late assignments early to prevent students from falling behind.</a:t>
            </a:r>
            <a:endParaRPr lang="en-US" sz="1000" dirty="0"/>
          </a:p>
        </p:txBody>
      </p:sp>
      <p:sp>
        <p:nvSpPr>
          <p:cNvPr id="1048828" name="Shape 23"/>
          <p:cNvSpPr/>
          <p:nvPr/>
        </p:nvSpPr>
        <p:spPr>
          <a:xfrm>
            <a:off x="8138160" y="4663440"/>
            <a:ext cx="3566160" cy="1737360"/>
          </a:xfrm>
          <a:prstGeom prst="roundRect">
            <a:avLst>
              <a:gd name="adj" fmla="val 4737"/>
            </a:avLst>
          </a:prstGeom>
          <a:solidFill>
            <a:srgbClr val="EEF5F6"/>
          </a:solidFill>
        </p:spPr>
      </p:sp>
      <p:sp>
        <p:nvSpPr>
          <p:cNvPr id="1048829" name="Shape 24"/>
          <p:cNvSpPr/>
          <p:nvPr/>
        </p:nvSpPr>
        <p:spPr>
          <a:xfrm>
            <a:off x="8339328" y="4846320"/>
            <a:ext cx="457200" cy="457200"/>
          </a:xfrm>
          <a:prstGeom prst="ellipse">
            <a:avLst/>
          </a:prstGeom>
          <a:solidFill>
            <a:srgbClr val="FFFFFF"/>
          </a:solidFill>
        </p:spPr>
      </p:sp>
      <p:pic>
        <p:nvPicPr>
          <p:cNvPr id="2097179" name="Image 5" descr="preencoded.png"/>
          <p:cNvPicPr>
            <a:picLocks noChangeAspect="1"/>
          </p:cNvPicPr>
          <p:nvPr/>
        </p:nvPicPr>
        <p:blipFill>
          <a:blip r:embed="rId8"/>
          <a:stretch>
            <a:fillRect/>
          </a:stretch>
        </p:blipFill>
        <p:spPr>
          <a:xfrm>
            <a:off x="8458200" y="4965192"/>
            <a:ext cx="219456" cy="219456"/>
          </a:xfrm>
          <a:prstGeom prst="rect">
            <a:avLst/>
          </a:prstGeom>
        </p:spPr>
      </p:pic>
      <p:sp>
        <p:nvSpPr>
          <p:cNvPr id="1048830" name="Text 25"/>
          <p:cNvSpPr/>
          <p:nvPr/>
        </p:nvSpPr>
        <p:spPr>
          <a:xfrm>
            <a:off x="8339328" y="5440680"/>
            <a:ext cx="3200400" cy="365760"/>
          </a:xfrm>
          <a:prstGeom prst="rect">
            <a:avLst/>
          </a:prstGeom>
          <a:noFill/>
        </p:spPr>
        <p:txBody>
          <a:bodyPr wrap="square" lIns="0" tIns="0" rIns="0" bIns="0" rtlCol="0" anchor="ctr"/>
          <a:lstStyle/>
          <a:p>
            <a:pPr marL="0" indent="0">
              <a:buNone/>
            </a:pPr>
            <a:r>
              <a:rPr lang="en-US" sz="1250" b="1" dirty="0">
                <a:solidFill>
                  <a:srgbClr val="16324A"/>
                </a:solidFill>
                <a:latin typeface="Calibri" pitchFamily="34" charset="0"/>
                <a:ea typeface="Calibri" pitchFamily="34" charset="-122"/>
                <a:cs typeface="Calibri" pitchFamily="34" charset="-120"/>
              </a:rPr>
              <a:t>Access &amp; Equity</a:t>
            </a:r>
            <a:endParaRPr lang="en-US" sz="1250" dirty="0"/>
          </a:p>
        </p:txBody>
      </p:sp>
      <p:sp>
        <p:nvSpPr>
          <p:cNvPr id="1048831" name="Text 26"/>
          <p:cNvSpPr/>
          <p:nvPr/>
        </p:nvSpPr>
        <p:spPr>
          <a:xfrm>
            <a:off x="8339328" y="5806440"/>
            <a:ext cx="3200400" cy="548640"/>
          </a:xfrm>
          <a:prstGeom prst="rect">
            <a:avLst/>
          </a:prstGeom>
          <a:noFill/>
        </p:spPr>
        <p:txBody>
          <a:bodyPr wrap="square" lIns="0" tIns="0" rIns="0" bIns="0" rtlCol="0" anchor="ctr"/>
          <a:lstStyle/>
          <a:p>
            <a:pPr marL="0" indent="0">
              <a:lnSpc>
                <a:spcPct val="110000"/>
              </a:lnSpc>
              <a:buNone/>
            </a:pPr>
            <a:r>
              <a:rPr lang="en-US" sz="1000" dirty="0">
                <a:solidFill>
                  <a:srgbClr val="5B7280"/>
                </a:solidFill>
                <a:latin typeface="Calibri" pitchFamily="34" charset="0"/>
                <a:ea typeface="Calibri" pitchFamily="34" charset="-122"/>
                <a:cs typeface="Calibri" pitchFamily="34" charset="-120"/>
              </a:rPr>
              <a:t>Improve internet access and support students with part-time jobs, as these factors affect studies.</a:t>
            </a:r>
            <a:endParaRPr lang="en-US" sz="1000" dirty="0"/>
          </a:p>
        </p:txBody>
      </p:sp>
      <p:sp>
        <p:nvSpPr>
          <p:cNvPr id="1048832" name="Text 27"/>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833" name="Text 28"/>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1048837"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DELIVERY</a:t>
            </a:r>
            <a:endParaRPr lang="en-US" sz="1300" dirty="0"/>
          </a:p>
        </p:txBody>
      </p:sp>
      <p:sp>
        <p:nvSpPr>
          <p:cNvPr id="1048838"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Tech Stack &amp; AI Usage</a:t>
            </a:r>
            <a:endParaRPr lang="en-US" sz="3000" dirty="0"/>
          </a:p>
        </p:txBody>
      </p:sp>
      <p:sp>
        <p:nvSpPr>
          <p:cNvPr id="1048839" name="Text 2"/>
          <p:cNvSpPr/>
          <p:nvPr/>
        </p:nvSpPr>
        <p:spPr>
          <a:xfrm>
            <a:off x="548640" y="1508760"/>
            <a:ext cx="4572000" cy="365760"/>
          </a:xfrm>
          <a:prstGeom prst="rect">
            <a:avLst/>
          </a:prstGeom>
          <a:noFill/>
        </p:spPr>
        <p:txBody>
          <a:bodyPr wrap="square" lIns="0" tIns="0" rIns="0" bIns="0" rtlCol="0" anchor="ctr"/>
          <a:lstStyle/>
          <a:p>
            <a:pPr marL="0" indent="0">
              <a:buNone/>
            </a:pPr>
            <a:r>
              <a:rPr lang="en-US" sz="1600" b="1" dirty="0">
                <a:solidFill>
                  <a:srgbClr val="16324A"/>
                </a:solidFill>
                <a:latin typeface="Cambria" pitchFamily="34" charset="0"/>
                <a:ea typeface="Cambria" pitchFamily="34" charset="-122"/>
                <a:cs typeface="Cambria" pitchFamily="34" charset="-120"/>
              </a:rPr>
              <a:t>Tech Stack</a:t>
            </a:r>
            <a:endParaRPr lang="en-US" sz="1600" dirty="0"/>
          </a:p>
        </p:txBody>
      </p:sp>
      <p:sp>
        <p:nvSpPr>
          <p:cNvPr id="1048840" name="Text 3"/>
          <p:cNvSpPr/>
          <p:nvPr/>
        </p:nvSpPr>
        <p:spPr>
          <a:xfrm>
            <a:off x="548640" y="2011680"/>
            <a:ext cx="5212080" cy="502920"/>
          </a:xfrm>
          <a:prstGeom prst="rect">
            <a:avLst/>
          </a:prstGeom>
          <a:noFill/>
        </p:spPr>
        <p:txBody>
          <a:bodyPr wrap="square" lIns="0" tIns="0" rIns="0" bIns="0" rtlCol="0" anchor="t"/>
          <a:lstStyle/>
          <a:p>
            <a:pPr marL="342900" indent="-342900">
              <a:lnSpc>
                <a:spcPct val="115000"/>
              </a:lnSpc>
              <a:buSzPct val="100000"/>
              <a:buChar char="●"/>
            </a:pPr>
            <a:r>
              <a:rPr lang="en-US" sz="1250" dirty="0">
                <a:solidFill>
                  <a:srgbClr val="1E293B"/>
                </a:solidFill>
                <a:latin typeface="Calibri" pitchFamily="34" charset="0"/>
                <a:ea typeface="Calibri" pitchFamily="34" charset="-122"/>
                <a:cs typeface="Calibri" pitchFamily="34" charset="-120"/>
              </a:rPr>
              <a:t>Microsoft Excel — data cleaning, preprocessing, EDA</a:t>
            </a:r>
            <a:endParaRPr lang="en-US" sz="1250" dirty="0"/>
          </a:p>
        </p:txBody>
      </p:sp>
      <p:sp>
        <p:nvSpPr>
          <p:cNvPr id="1048841" name="Text 4"/>
          <p:cNvSpPr/>
          <p:nvPr/>
        </p:nvSpPr>
        <p:spPr>
          <a:xfrm>
            <a:off x="548640" y="2578608"/>
            <a:ext cx="5212080" cy="502920"/>
          </a:xfrm>
          <a:prstGeom prst="rect">
            <a:avLst/>
          </a:prstGeom>
          <a:noFill/>
        </p:spPr>
        <p:txBody>
          <a:bodyPr wrap="square" lIns="0" tIns="0" rIns="0" bIns="0" rtlCol="0" anchor="t"/>
          <a:lstStyle/>
          <a:p>
            <a:pPr marL="342900" indent="-342900">
              <a:lnSpc>
                <a:spcPct val="115000"/>
              </a:lnSpc>
              <a:buSzPct val="100000"/>
              <a:buChar char="●"/>
            </a:pPr>
            <a:r>
              <a:rPr lang="en-US" sz="1250" dirty="0">
                <a:solidFill>
                  <a:srgbClr val="1E293B"/>
                </a:solidFill>
                <a:latin typeface="Calibri" pitchFamily="34" charset="0"/>
                <a:ea typeface="Calibri" pitchFamily="34" charset="-122"/>
                <a:cs typeface="Calibri" pitchFamily="34" charset="-120"/>
              </a:rPr>
              <a:t>SQL — data querying and analytical insights</a:t>
            </a:r>
            <a:endParaRPr lang="en-US" sz="1250" dirty="0"/>
          </a:p>
        </p:txBody>
      </p:sp>
      <p:sp>
        <p:nvSpPr>
          <p:cNvPr id="1048842" name="Text 5"/>
          <p:cNvSpPr/>
          <p:nvPr/>
        </p:nvSpPr>
        <p:spPr>
          <a:xfrm>
            <a:off x="548640" y="3145536"/>
            <a:ext cx="5212080" cy="502920"/>
          </a:xfrm>
          <a:prstGeom prst="rect">
            <a:avLst/>
          </a:prstGeom>
          <a:noFill/>
        </p:spPr>
        <p:txBody>
          <a:bodyPr wrap="square" lIns="0" tIns="0" rIns="0" bIns="0" rtlCol="0" anchor="t"/>
          <a:lstStyle/>
          <a:p>
            <a:pPr marL="342900" indent="-342900">
              <a:lnSpc>
                <a:spcPct val="115000"/>
              </a:lnSpc>
              <a:buSzPct val="100000"/>
              <a:buChar char="●"/>
            </a:pPr>
            <a:r>
              <a:rPr lang="en-US" sz="1250" dirty="0">
                <a:solidFill>
                  <a:srgbClr val="1E293B"/>
                </a:solidFill>
                <a:latin typeface="Calibri" pitchFamily="34" charset="0"/>
                <a:ea typeface="Calibri" pitchFamily="34" charset="-122"/>
                <a:cs typeface="Calibri" pitchFamily="34" charset="-120"/>
              </a:rPr>
              <a:t>Python — data analysis, visualization, EDA</a:t>
            </a:r>
            <a:endParaRPr lang="en-US" sz="1250" dirty="0"/>
          </a:p>
        </p:txBody>
      </p:sp>
      <p:sp>
        <p:nvSpPr>
          <p:cNvPr id="1048843" name="Text 6"/>
          <p:cNvSpPr/>
          <p:nvPr/>
        </p:nvSpPr>
        <p:spPr>
          <a:xfrm>
            <a:off x="548640" y="3712464"/>
            <a:ext cx="5212080" cy="502920"/>
          </a:xfrm>
          <a:prstGeom prst="rect">
            <a:avLst/>
          </a:prstGeom>
          <a:noFill/>
        </p:spPr>
        <p:txBody>
          <a:bodyPr wrap="square" lIns="0" tIns="0" rIns="0" bIns="0" rtlCol="0" anchor="t"/>
          <a:lstStyle/>
          <a:p>
            <a:pPr marL="342900" indent="-342900">
              <a:lnSpc>
                <a:spcPct val="115000"/>
              </a:lnSpc>
              <a:buSzPct val="100000"/>
              <a:buChar char="●"/>
            </a:pPr>
            <a:r>
              <a:rPr lang="en-US" sz="1250" dirty="0">
                <a:solidFill>
                  <a:srgbClr val="1E293B"/>
                </a:solidFill>
                <a:latin typeface="Calibri" pitchFamily="34" charset="0"/>
                <a:ea typeface="Calibri" pitchFamily="34" charset="-122"/>
                <a:cs typeface="Calibri" pitchFamily="34" charset="-120"/>
              </a:rPr>
              <a:t>Power BI — interactive dashboard development &amp; KPI reporting</a:t>
            </a:r>
            <a:endParaRPr lang="en-US" sz="1250" dirty="0"/>
          </a:p>
        </p:txBody>
      </p:sp>
      <p:sp>
        <p:nvSpPr>
          <p:cNvPr id="1048844" name="Text 7"/>
          <p:cNvSpPr/>
          <p:nvPr/>
        </p:nvSpPr>
        <p:spPr>
          <a:xfrm>
            <a:off x="548640" y="4279392"/>
            <a:ext cx="5212080" cy="502920"/>
          </a:xfrm>
          <a:prstGeom prst="rect">
            <a:avLst/>
          </a:prstGeom>
          <a:noFill/>
        </p:spPr>
        <p:txBody>
          <a:bodyPr wrap="square" lIns="0" tIns="0" rIns="0" bIns="0" rtlCol="0" anchor="t"/>
          <a:lstStyle/>
          <a:p>
            <a:pPr marL="342900" indent="-342900">
              <a:lnSpc>
                <a:spcPct val="115000"/>
              </a:lnSpc>
              <a:buSzPct val="100000"/>
              <a:buChar char="●"/>
            </a:pPr>
            <a:r>
              <a:rPr lang="en-US" sz="1250" dirty="0">
                <a:solidFill>
                  <a:srgbClr val="1E293B"/>
                </a:solidFill>
                <a:latin typeface="Calibri" pitchFamily="34" charset="0"/>
                <a:ea typeface="Calibri" pitchFamily="34" charset="-122"/>
                <a:cs typeface="Calibri" pitchFamily="34" charset="-120"/>
              </a:rPr>
              <a:t>Git &amp; GitHub — version control, repository management, collaboration</a:t>
            </a:r>
            <a:endParaRPr lang="en-US" sz="1250" dirty="0"/>
          </a:p>
        </p:txBody>
      </p:sp>
      <p:sp>
        <p:nvSpPr>
          <p:cNvPr id="1048845" name="Shape 8"/>
          <p:cNvSpPr/>
          <p:nvPr/>
        </p:nvSpPr>
        <p:spPr>
          <a:xfrm>
            <a:off x="6126480" y="1508760"/>
            <a:ext cx="5440680" cy="4663440"/>
          </a:xfrm>
          <a:prstGeom prst="roundRect">
            <a:avLst>
              <a:gd name="adj" fmla="val 1961"/>
            </a:avLst>
          </a:prstGeom>
          <a:solidFill>
            <a:srgbClr val="16324A"/>
          </a:solidFill>
        </p:spPr>
      </p:sp>
      <p:sp>
        <p:nvSpPr>
          <p:cNvPr id="1048846" name="Shape 9"/>
          <p:cNvSpPr/>
          <p:nvPr/>
        </p:nvSpPr>
        <p:spPr>
          <a:xfrm>
            <a:off x="6355080" y="1737360"/>
            <a:ext cx="502920" cy="502920"/>
          </a:xfrm>
          <a:prstGeom prst="ellipse">
            <a:avLst/>
          </a:prstGeom>
          <a:solidFill>
            <a:srgbClr val="1C7293"/>
          </a:solidFill>
        </p:spPr>
      </p:sp>
      <p:pic>
        <p:nvPicPr>
          <p:cNvPr id="2097180" name="Image 0" descr="preencoded.png"/>
          <p:cNvPicPr>
            <a:picLocks noChangeAspect="1"/>
          </p:cNvPicPr>
          <p:nvPr/>
        </p:nvPicPr>
        <p:blipFill>
          <a:blip r:embed="rId3"/>
          <a:stretch>
            <a:fillRect/>
          </a:stretch>
        </p:blipFill>
        <p:spPr>
          <a:xfrm>
            <a:off x="6485839" y="1868119"/>
            <a:ext cx="241402" cy="241402"/>
          </a:xfrm>
          <a:prstGeom prst="rect">
            <a:avLst/>
          </a:prstGeom>
        </p:spPr>
      </p:pic>
      <p:sp>
        <p:nvSpPr>
          <p:cNvPr id="1048847" name="Text 10"/>
          <p:cNvSpPr/>
          <p:nvPr/>
        </p:nvSpPr>
        <p:spPr>
          <a:xfrm>
            <a:off x="6995160" y="1783080"/>
            <a:ext cx="4389120" cy="457200"/>
          </a:xfrm>
          <a:prstGeom prst="rect">
            <a:avLst/>
          </a:prstGeom>
          <a:noFill/>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AI Assistance (ChatGPT &amp; Claude)</a:t>
            </a:r>
            <a:endParaRPr lang="en-US" sz="1500" dirty="0"/>
          </a:p>
        </p:txBody>
      </p:sp>
      <p:sp>
        <p:nvSpPr>
          <p:cNvPr id="1048848" name="Text 11"/>
          <p:cNvSpPr/>
          <p:nvPr/>
        </p:nvSpPr>
        <p:spPr>
          <a:xfrm>
            <a:off x="6355080" y="2377440"/>
            <a:ext cx="4937760" cy="54864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CADCE6"/>
                </a:solidFill>
                <a:latin typeface="Calibri" pitchFamily="34" charset="0"/>
                <a:ea typeface="Calibri" pitchFamily="34" charset="-122"/>
                <a:cs typeface="Calibri" pitchFamily="34" charset="-120"/>
              </a:rPr>
              <a:t>Guided data cleaning and handling of missing values</a:t>
            </a:r>
            <a:endParaRPr lang="en-US" sz="1150" dirty="0"/>
          </a:p>
        </p:txBody>
      </p:sp>
      <p:sp>
        <p:nvSpPr>
          <p:cNvPr id="1048849" name="Text 12"/>
          <p:cNvSpPr/>
          <p:nvPr/>
        </p:nvSpPr>
        <p:spPr>
          <a:xfrm>
            <a:off x="6355080" y="2944368"/>
            <a:ext cx="4937760" cy="54864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CADCE6"/>
                </a:solidFill>
                <a:latin typeface="Calibri" pitchFamily="34" charset="0"/>
                <a:ea typeface="Calibri" pitchFamily="34" charset="-122"/>
                <a:cs typeface="Calibri" pitchFamily="34" charset="-120"/>
              </a:rPr>
              <a:t>Supported EDA and analytical approach selection</a:t>
            </a:r>
            <a:endParaRPr lang="en-US" sz="1150" dirty="0"/>
          </a:p>
        </p:txBody>
      </p:sp>
      <p:sp>
        <p:nvSpPr>
          <p:cNvPr id="1048850" name="Text 13"/>
          <p:cNvSpPr/>
          <p:nvPr/>
        </p:nvSpPr>
        <p:spPr>
          <a:xfrm>
            <a:off x="6355080" y="3511296"/>
            <a:ext cx="4937760" cy="54864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CADCE6"/>
                </a:solidFill>
                <a:latin typeface="Calibri" pitchFamily="34" charset="0"/>
                <a:ea typeface="Calibri" pitchFamily="34" charset="-122"/>
                <a:cs typeface="Calibri" pitchFamily="34" charset="-120"/>
              </a:rPr>
              <a:t>Generated and explained SQL queries and Python code</a:t>
            </a:r>
            <a:endParaRPr lang="en-US" sz="1150" dirty="0"/>
          </a:p>
        </p:txBody>
      </p:sp>
      <p:sp>
        <p:nvSpPr>
          <p:cNvPr id="1048851" name="Text 14"/>
          <p:cNvSpPr/>
          <p:nvPr/>
        </p:nvSpPr>
        <p:spPr>
          <a:xfrm>
            <a:off x="6355080" y="4078224"/>
            <a:ext cx="4937760" cy="54864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CADCE6"/>
                </a:solidFill>
                <a:latin typeface="Calibri" pitchFamily="34" charset="0"/>
                <a:ea typeface="Calibri" pitchFamily="34" charset="-122"/>
                <a:cs typeface="Calibri" pitchFamily="34" charset="-120"/>
              </a:rPr>
              <a:t>Recommended Power BI dashboard design, KPIs, and DAX measures</a:t>
            </a:r>
            <a:endParaRPr lang="en-US" sz="1150" dirty="0"/>
          </a:p>
        </p:txBody>
      </p:sp>
      <p:sp>
        <p:nvSpPr>
          <p:cNvPr id="1048852" name="Text 15"/>
          <p:cNvSpPr/>
          <p:nvPr/>
        </p:nvSpPr>
        <p:spPr>
          <a:xfrm>
            <a:off x="6355080" y="4645152"/>
            <a:ext cx="4937760" cy="54864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CADCE6"/>
                </a:solidFill>
                <a:latin typeface="Calibri" pitchFamily="34" charset="0"/>
                <a:ea typeface="Calibri" pitchFamily="34" charset="-122"/>
                <a:cs typeface="Calibri" pitchFamily="34" charset="-120"/>
              </a:rPr>
              <a:t>Assisted with Git/GitHub troubleshooting and project documentation</a:t>
            </a:r>
            <a:endParaRPr lang="en-US" sz="1150" dirty="0"/>
          </a:p>
        </p:txBody>
      </p:sp>
      <p:sp>
        <p:nvSpPr>
          <p:cNvPr id="1048853" name="Shape 16"/>
          <p:cNvSpPr/>
          <p:nvPr/>
        </p:nvSpPr>
        <p:spPr>
          <a:xfrm>
            <a:off x="6355080" y="5349240"/>
            <a:ext cx="4937760" cy="9144"/>
          </a:xfrm>
          <a:prstGeom prst="rect">
            <a:avLst/>
          </a:prstGeom>
          <a:noFill/>
          <a:ln w="12700">
            <a:solidFill>
              <a:srgbClr val="3A5B6E"/>
            </a:solidFill>
            <a:prstDash val="solid"/>
          </a:ln>
        </p:spPr>
      </p:sp>
      <p:sp>
        <p:nvSpPr>
          <p:cNvPr id="1048854" name="Text 17"/>
          <p:cNvSpPr/>
          <p:nvPr/>
        </p:nvSpPr>
        <p:spPr>
          <a:xfrm>
            <a:off x="6355080" y="5440680"/>
            <a:ext cx="4937760" cy="640080"/>
          </a:xfrm>
          <a:prstGeom prst="rect">
            <a:avLst/>
          </a:prstGeom>
          <a:noFill/>
        </p:spPr>
        <p:txBody>
          <a:bodyPr wrap="square" lIns="0" tIns="0" rIns="0" bIns="0" rtlCol="0" anchor="ctr"/>
          <a:lstStyle/>
          <a:p>
            <a:pPr marL="0" indent="0">
              <a:lnSpc>
                <a:spcPct val="120000"/>
              </a:lnSpc>
              <a:buNone/>
            </a:pPr>
            <a:r>
              <a:rPr lang="en-US" sz="1100" i="1" dirty="0">
                <a:solidFill>
                  <a:srgbClr val="3EC1B3"/>
                </a:solidFill>
                <a:latin typeface="Calibri" pitchFamily="34" charset="0"/>
                <a:ea typeface="Calibri" pitchFamily="34" charset="-122"/>
                <a:cs typeface="Calibri" pitchFamily="34" charset="-120"/>
              </a:rPr>
              <a:t>All AI-generated outputs were independently reviewed, validated, and adapted before inclusion in the final project.</a:t>
            </a:r>
            <a:endParaRPr lang="en-US" sz="1100" dirty="0"/>
          </a:p>
        </p:txBody>
      </p:sp>
      <p:sp>
        <p:nvSpPr>
          <p:cNvPr id="1048855" name="Text 18"/>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856" name="Text 19"/>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048860"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REFLECTION</a:t>
            </a:r>
            <a:endParaRPr lang="en-US" sz="1300" dirty="0"/>
          </a:p>
        </p:txBody>
      </p:sp>
      <p:sp>
        <p:nvSpPr>
          <p:cNvPr id="1048861"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Limitations &amp; Next Steps</a:t>
            </a:r>
            <a:endParaRPr lang="en-US" sz="3000" dirty="0"/>
          </a:p>
        </p:txBody>
      </p:sp>
      <p:sp>
        <p:nvSpPr>
          <p:cNvPr id="1048862" name="Text 2"/>
          <p:cNvSpPr/>
          <p:nvPr/>
        </p:nvSpPr>
        <p:spPr>
          <a:xfrm>
            <a:off x="548640" y="1508760"/>
            <a:ext cx="10789920" cy="365760"/>
          </a:xfrm>
          <a:prstGeom prst="rect">
            <a:avLst/>
          </a:prstGeom>
          <a:noFill/>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This project was developed as a proof of concept and therefore does not include:</a:t>
            </a:r>
            <a:endParaRPr lang="en-US" sz="1300" dirty="0"/>
          </a:p>
        </p:txBody>
      </p:sp>
      <p:sp>
        <p:nvSpPr>
          <p:cNvPr id="1048863" name="Shape 3"/>
          <p:cNvSpPr/>
          <p:nvPr/>
        </p:nvSpPr>
        <p:spPr>
          <a:xfrm>
            <a:off x="548640" y="2011680"/>
            <a:ext cx="3566160" cy="1051560"/>
          </a:xfrm>
          <a:prstGeom prst="roundRect">
            <a:avLst>
              <a:gd name="adj" fmla="val 6957"/>
            </a:avLst>
          </a:prstGeom>
          <a:solidFill>
            <a:srgbClr val="EEF5F6"/>
          </a:solidFill>
        </p:spPr>
      </p:sp>
      <p:sp>
        <p:nvSpPr>
          <p:cNvPr id="1048864" name="Text 4"/>
          <p:cNvSpPr/>
          <p:nvPr/>
        </p:nvSpPr>
        <p:spPr>
          <a:xfrm>
            <a:off x="731520" y="2121408"/>
            <a:ext cx="3200400" cy="868680"/>
          </a:xfrm>
          <a:prstGeom prst="rect">
            <a:avLst/>
          </a:prstGeom>
          <a:noFill/>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Integration with a live Student Information System (SIS)</a:t>
            </a:r>
            <a:endParaRPr lang="en-US" sz="1150" dirty="0"/>
          </a:p>
        </p:txBody>
      </p:sp>
      <p:sp>
        <p:nvSpPr>
          <p:cNvPr id="1048865" name="Shape 5"/>
          <p:cNvSpPr/>
          <p:nvPr/>
        </p:nvSpPr>
        <p:spPr>
          <a:xfrm>
            <a:off x="4343400" y="2011680"/>
            <a:ext cx="3566160" cy="1051560"/>
          </a:xfrm>
          <a:prstGeom prst="roundRect">
            <a:avLst>
              <a:gd name="adj" fmla="val 6957"/>
            </a:avLst>
          </a:prstGeom>
          <a:solidFill>
            <a:srgbClr val="EEF5F6"/>
          </a:solidFill>
        </p:spPr>
      </p:sp>
      <p:sp>
        <p:nvSpPr>
          <p:cNvPr id="1048866" name="Text 6"/>
          <p:cNvSpPr/>
          <p:nvPr/>
        </p:nvSpPr>
        <p:spPr>
          <a:xfrm>
            <a:off x="4526280" y="2121408"/>
            <a:ext cx="3200400" cy="868680"/>
          </a:xfrm>
          <a:prstGeom prst="rect">
            <a:avLst/>
          </a:prstGeom>
          <a:noFill/>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Real-time data pipelines or automated data refresh</a:t>
            </a:r>
            <a:endParaRPr lang="en-US" sz="1150" dirty="0"/>
          </a:p>
        </p:txBody>
      </p:sp>
      <p:sp>
        <p:nvSpPr>
          <p:cNvPr id="1048867" name="Shape 7"/>
          <p:cNvSpPr/>
          <p:nvPr/>
        </p:nvSpPr>
        <p:spPr>
          <a:xfrm>
            <a:off x="8138160" y="2011680"/>
            <a:ext cx="3566160" cy="1051560"/>
          </a:xfrm>
          <a:prstGeom prst="roundRect">
            <a:avLst>
              <a:gd name="adj" fmla="val 6957"/>
            </a:avLst>
          </a:prstGeom>
          <a:solidFill>
            <a:srgbClr val="EEF5F6"/>
          </a:solidFill>
        </p:spPr>
      </p:sp>
      <p:sp>
        <p:nvSpPr>
          <p:cNvPr id="1048868" name="Text 8"/>
          <p:cNvSpPr/>
          <p:nvPr/>
        </p:nvSpPr>
        <p:spPr>
          <a:xfrm>
            <a:off x="8321040" y="2121408"/>
            <a:ext cx="3200400" cy="868680"/>
          </a:xfrm>
          <a:prstGeom prst="rect">
            <a:avLst/>
          </a:prstGeom>
          <a:noFill/>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Direct counselling or intervention delivery</a:t>
            </a:r>
            <a:endParaRPr lang="en-US" sz="1150" dirty="0"/>
          </a:p>
        </p:txBody>
      </p:sp>
      <p:sp>
        <p:nvSpPr>
          <p:cNvPr id="1048869" name="Shape 9"/>
          <p:cNvSpPr/>
          <p:nvPr/>
        </p:nvSpPr>
        <p:spPr>
          <a:xfrm>
            <a:off x="548640" y="3246120"/>
            <a:ext cx="3566160" cy="1051560"/>
          </a:xfrm>
          <a:prstGeom prst="roundRect">
            <a:avLst>
              <a:gd name="adj" fmla="val 6957"/>
            </a:avLst>
          </a:prstGeom>
          <a:solidFill>
            <a:srgbClr val="EEF5F6"/>
          </a:solidFill>
        </p:spPr>
      </p:sp>
      <p:sp>
        <p:nvSpPr>
          <p:cNvPr id="1048870" name="Text 10"/>
          <p:cNvSpPr/>
          <p:nvPr/>
        </p:nvSpPr>
        <p:spPr>
          <a:xfrm>
            <a:off x="731520" y="3355848"/>
            <a:ext cx="3200400" cy="868680"/>
          </a:xfrm>
          <a:prstGeom prst="rect">
            <a:avLst/>
          </a:prstGeom>
          <a:noFill/>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Long-term model monitoring or retraining</a:t>
            </a:r>
            <a:endParaRPr lang="en-US" sz="1150" dirty="0"/>
          </a:p>
        </p:txBody>
      </p:sp>
      <p:sp>
        <p:nvSpPr>
          <p:cNvPr id="1048871" name="Shape 11"/>
          <p:cNvSpPr/>
          <p:nvPr/>
        </p:nvSpPr>
        <p:spPr>
          <a:xfrm>
            <a:off x="4343400" y="3246120"/>
            <a:ext cx="3566160" cy="1051560"/>
          </a:xfrm>
          <a:prstGeom prst="roundRect">
            <a:avLst>
              <a:gd name="adj" fmla="val 6957"/>
            </a:avLst>
          </a:prstGeom>
          <a:solidFill>
            <a:srgbClr val="EEF5F6"/>
          </a:solidFill>
        </p:spPr>
      </p:sp>
      <p:sp>
        <p:nvSpPr>
          <p:cNvPr id="1048872" name="Text 12"/>
          <p:cNvSpPr/>
          <p:nvPr/>
        </p:nvSpPr>
        <p:spPr>
          <a:xfrm>
            <a:off x="4526280" y="3355848"/>
            <a:ext cx="3200400" cy="868680"/>
          </a:xfrm>
          <a:prstGeom prst="rect">
            <a:avLst/>
          </a:prstGeom>
          <a:noFill/>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Findings are specific to the available dataset and may not generalize to all institutions</a:t>
            </a:r>
            <a:endParaRPr lang="en-US" sz="1150" dirty="0"/>
          </a:p>
        </p:txBody>
      </p:sp>
      <p:sp>
        <p:nvSpPr>
          <p:cNvPr id="1048873" name="Shape 13"/>
          <p:cNvSpPr/>
          <p:nvPr/>
        </p:nvSpPr>
        <p:spPr>
          <a:xfrm>
            <a:off x="548640" y="4617720"/>
            <a:ext cx="11064240" cy="1508760"/>
          </a:xfrm>
          <a:prstGeom prst="roundRect">
            <a:avLst>
              <a:gd name="adj" fmla="val 6061"/>
            </a:avLst>
          </a:prstGeom>
          <a:solidFill>
            <a:srgbClr val="16324A"/>
          </a:solidFill>
        </p:spPr>
      </p:sp>
      <p:sp>
        <p:nvSpPr>
          <p:cNvPr id="1048874" name="Shape 14"/>
          <p:cNvSpPr/>
          <p:nvPr/>
        </p:nvSpPr>
        <p:spPr>
          <a:xfrm>
            <a:off x="777240" y="4828032"/>
            <a:ext cx="502920" cy="502920"/>
          </a:xfrm>
          <a:prstGeom prst="ellipse">
            <a:avLst/>
          </a:prstGeom>
          <a:solidFill>
            <a:srgbClr val="1C7293"/>
          </a:solidFill>
        </p:spPr>
      </p:sp>
      <p:pic>
        <p:nvPicPr>
          <p:cNvPr id="2097181" name="Image 0" descr="preencoded.png"/>
          <p:cNvPicPr>
            <a:picLocks noChangeAspect="1"/>
          </p:cNvPicPr>
          <p:nvPr/>
        </p:nvPicPr>
        <p:blipFill>
          <a:blip r:embed="rId3"/>
          <a:stretch>
            <a:fillRect/>
          </a:stretch>
        </p:blipFill>
        <p:spPr>
          <a:xfrm>
            <a:off x="907999" y="4958791"/>
            <a:ext cx="241402" cy="241402"/>
          </a:xfrm>
          <a:prstGeom prst="rect">
            <a:avLst/>
          </a:prstGeom>
        </p:spPr>
      </p:pic>
      <p:sp>
        <p:nvSpPr>
          <p:cNvPr id="1048875" name="Text 15"/>
          <p:cNvSpPr/>
          <p:nvPr/>
        </p:nvSpPr>
        <p:spPr>
          <a:xfrm>
            <a:off x="1417320" y="4846320"/>
            <a:ext cx="3657600" cy="365760"/>
          </a:xfrm>
          <a:prstGeom prst="rect">
            <a:avLst/>
          </a:prstGeom>
          <a:noFill/>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Future Work</a:t>
            </a:r>
            <a:endParaRPr lang="en-US" sz="1500" dirty="0"/>
          </a:p>
        </p:txBody>
      </p:sp>
      <p:sp>
        <p:nvSpPr>
          <p:cNvPr id="1048876" name="Text 16"/>
          <p:cNvSpPr/>
          <p:nvPr/>
        </p:nvSpPr>
        <p:spPr>
          <a:xfrm>
            <a:off x="1417320" y="5230368"/>
            <a:ext cx="9966960" cy="777240"/>
          </a:xfrm>
          <a:prstGeom prst="rect">
            <a:avLst/>
          </a:prstGeom>
          <a:noFill/>
        </p:spPr>
        <p:txBody>
          <a:bodyPr wrap="square" lIns="0" tIns="0" rIns="0" bIns="0" rtlCol="0" anchor="ctr"/>
          <a:lstStyle/>
          <a:p>
            <a:pPr marL="0" indent="0">
              <a:lnSpc>
                <a:spcPct val="125000"/>
              </a:lnSpc>
              <a:buNone/>
            </a:pPr>
            <a:r>
              <a:rPr lang="en-US" sz="1250" dirty="0">
                <a:solidFill>
                  <a:srgbClr val="CADCE6"/>
                </a:solidFill>
                <a:latin typeface="Calibri" pitchFamily="34" charset="0"/>
                <a:ea typeface="Calibri" pitchFamily="34" charset="-122"/>
                <a:cs typeface="Calibri" pitchFamily="34" charset="-120"/>
              </a:rPr>
              <a:t>Future work could improve the system by incorporating additional variables such as counselling participation, extracurricular involvement, semester-by-semester academic progression, and other institutional support indicators.</a:t>
            </a:r>
            <a:endParaRPr lang="en-US" sz="1250" dirty="0"/>
          </a:p>
        </p:txBody>
      </p:sp>
      <p:sp>
        <p:nvSpPr>
          <p:cNvPr id="1048877" name="Text 17"/>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878" name="Text 18"/>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104888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300" b="1" kern="0" spc="200" dirty="0">
                <a:solidFill>
                  <a:srgbClr val="F0663A"/>
                </a:solidFill>
                <a:latin typeface="Calibri" pitchFamily="34" charset="0"/>
                <a:ea typeface="Calibri" pitchFamily="34" charset="-122"/>
                <a:cs typeface="Calibri" pitchFamily="34" charset="-120"/>
              </a:rPr>
              <a:t>REFLECTION</a:t>
            </a:r>
            <a:endParaRPr lang="en-US" sz="1300" dirty="0"/>
          </a:p>
        </p:txBody>
      </p:sp>
      <p:sp>
        <p:nvSpPr>
          <p:cNvPr id="1048883" name="Text 1"/>
          <p:cNvSpPr/>
          <p:nvPr/>
        </p:nvSpPr>
        <p:spPr>
          <a:xfrm>
            <a:off x="548640" y="658368"/>
            <a:ext cx="10972800" cy="731520"/>
          </a:xfrm>
          <a:prstGeom prst="rect">
            <a:avLst/>
          </a:prstGeom>
          <a:noFill/>
        </p:spPr>
        <p:txBody>
          <a:bodyPr wrap="square" lIns="0" tIns="0" rIns="0" bIns="0"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Risk Management &amp; Lessons Learned</a:t>
            </a:r>
            <a:endParaRPr lang="en-US" sz="3000" dirty="0"/>
          </a:p>
        </p:txBody>
      </p:sp>
      <p:sp>
        <p:nvSpPr>
          <p:cNvPr id="1048884" name="Shape 2"/>
          <p:cNvSpPr/>
          <p:nvPr/>
        </p:nvSpPr>
        <p:spPr>
          <a:xfrm>
            <a:off x="548640" y="1600200"/>
            <a:ext cx="502920" cy="502920"/>
          </a:xfrm>
          <a:prstGeom prst="ellipse">
            <a:avLst/>
          </a:prstGeom>
          <a:solidFill>
            <a:srgbClr val="1C7293"/>
          </a:solidFill>
        </p:spPr>
      </p:sp>
      <p:pic>
        <p:nvPicPr>
          <p:cNvPr id="2097182" name="Image 0" descr="preencoded.png"/>
          <p:cNvPicPr>
            <a:picLocks noChangeAspect="1"/>
          </p:cNvPicPr>
          <p:nvPr/>
        </p:nvPicPr>
        <p:blipFill>
          <a:blip r:embed="rId3"/>
          <a:stretch>
            <a:fillRect/>
          </a:stretch>
        </p:blipFill>
        <p:spPr>
          <a:xfrm>
            <a:off x="679399" y="1730959"/>
            <a:ext cx="241402" cy="241402"/>
          </a:xfrm>
          <a:prstGeom prst="rect">
            <a:avLst/>
          </a:prstGeom>
        </p:spPr>
      </p:pic>
      <p:sp>
        <p:nvSpPr>
          <p:cNvPr id="1048885" name="Text 3"/>
          <p:cNvSpPr/>
          <p:nvPr/>
        </p:nvSpPr>
        <p:spPr>
          <a:xfrm>
            <a:off x="1188720" y="1645920"/>
            <a:ext cx="5303520" cy="411480"/>
          </a:xfrm>
          <a:prstGeom prst="rect">
            <a:avLst/>
          </a:prstGeom>
          <a:noFill/>
        </p:spPr>
        <p:txBody>
          <a:bodyPr wrap="square" lIns="0" tIns="0" rIns="0" bIns="0" rtlCol="0" anchor="ctr"/>
          <a:lstStyle/>
          <a:p>
            <a:pPr marL="0" indent="0">
              <a:buNone/>
            </a:pPr>
            <a:r>
              <a:rPr lang="en-US" sz="1550" b="1" dirty="0">
                <a:solidFill>
                  <a:srgbClr val="16324A"/>
                </a:solidFill>
                <a:latin typeface="Cambria" pitchFamily="34" charset="0"/>
                <a:ea typeface="Cambria" pitchFamily="34" charset="-122"/>
                <a:cs typeface="Cambria" pitchFamily="34" charset="-120"/>
              </a:rPr>
              <a:t>Risk Management Summary</a:t>
            </a:r>
            <a:endParaRPr lang="en-US" sz="1550" dirty="0"/>
          </a:p>
        </p:txBody>
      </p:sp>
      <p:sp>
        <p:nvSpPr>
          <p:cNvPr id="1048886" name="Text 4"/>
          <p:cNvSpPr/>
          <p:nvPr/>
        </p:nvSpPr>
        <p:spPr>
          <a:xfrm>
            <a:off x="548640" y="2194560"/>
            <a:ext cx="5486400" cy="1188720"/>
          </a:xfrm>
          <a:prstGeom prst="rect">
            <a:avLst/>
          </a:prstGeom>
          <a:noFill/>
        </p:spPr>
        <p:txBody>
          <a:bodyPr wrap="square" lIns="0" tIns="0" rIns="0" bIns="0" rtlCol="0" anchor="ctr"/>
          <a:lstStyle/>
          <a:p>
            <a:pPr marL="0" indent="0">
              <a:lnSpc>
                <a:spcPct val="125000"/>
              </a:lnSpc>
              <a:buNone/>
            </a:pPr>
            <a:r>
              <a:rPr lang="en-US" sz="1200" dirty="0">
                <a:solidFill>
                  <a:srgbClr val="1E293B"/>
                </a:solidFill>
                <a:latin typeface="Calibri" pitchFamily="34" charset="0"/>
                <a:ea typeface="Calibri" pitchFamily="34" charset="-122"/>
                <a:cs typeface="Calibri" pitchFamily="34" charset="-120"/>
              </a:rPr>
              <a:t>Risk management was integrated throughout the project lifecycle. Key risks included data quality issues, schedule constraints, model performance challenges, dashboard integration, team availability, and documentation delays.</a:t>
            </a:r>
            <a:endParaRPr lang="en-US" sz="1200" dirty="0"/>
          </a:p>
        </p:txBody>
      </p:sp>
      <p:sp>
        <p:nvSpPr>
          <p:cNvPr id="1048887" name="Text 5"/>
          <p:cNvSpPr/>
          <p:nvPr/>
        </p:nvSpPr>
        <p:spPr>
          <a:xfrm>
            <a:off x="548640" y="3429000"/>
            <a:ext cx="5486400" cy="1188720"/>
          </a:xfrm>
          <a:prstGeom prst="rect">
            <a:avLst/>
          </a:prstGeom>
          <a:noFill/>
        </p:spPr>
        <p:txBody>
          <a:bodyPr wrap="square" lIns="0" tIns="0" rIns="0" bIns="0" rtlCol="0" anchor="ctr"/>
          <a:lstStyle/>
          <a:p>
            <a:pPr marL="0" indent="0">
              <a:lnSpc>
                <a:spcPct val="125000"/>
              </a:lnSpc>
              <a:buNone/>
            </a:pPr>
            <a:r>
              <a:rPr lang="en-US" sz="1200" dirty="0">
                <a:solidFill>
                  <a:srgbClr val="1E293B"/>
                </a:solidFill>
                <a:latin typeface="Calibri" pitchFamily="34" charset="0"/>
                <a:ea typeface="Calibri" pitchFamily="34" charset="-122"/>
                <a:cs typeface="Calibri" pitchFamily="34" charset="-120"/>
              </a:rPr>
              <a:t>Mitigation: early data profiling, regular progress meetings, task prioritization, shared documentation and version control, and continuous milestone monitoring — minimizing disruptions and keeping the project on schedule.</a:t>
            </a:r>
            <a:endParaRPr lang="en-US" sz="1200" dirty="0"/>
          </a:p>
        </p:txBody>
      </p:sp>
      <p:sp>
        <p:nvSpPr>
          <p:cNvPr id="1048888" name="Shape 6"/>
          <p:cNvSpPr/>
          <p:nvPr/>
        </p:nvSpPr>
        <p:spPr>
          <a:xfrm>
            <a:off x="6492240" y="1600200"/>
            <a:ext cx="502920" cy="502920"/>
          </a:xfrm>
          <a:prstGeom prst="ellipse">
            <a:avLst/>
          </a:prstGeom>
          <a:solidFill>
            <a:srgbClr val="F0663A"/>
          </a:solidFill>
        </p:spPr>
      </p:sp>
      <p:pic>
        <p:nvPicPr>
          <p:cNvPr id="2097183" name="Image 1" descr="preencoded.png"/>
          <p:cNvPicPr>
            <a:picLocks noChangeAspect="1"/>
          </p:cNvPicPr>
          <p:nvPr/>
        </p:nvPicPr>
        <p:blipFill>
          <a:blip r:embed="rId4"/>
          <a:stretch>
            <a:fillRect/>
          </a:stretch>
        </p:blipFill>
        <p:spPr>
          <a:xfrm>
            <a:off x="6622999" y="1730959"/>
            <a:ext cx="241402" cy="241402"/>
          </a:xfrm>
          <a:prstGeom prst="rect">
            <a:avLst/>
          </a:prstGeom>
        </p:spPr>
      </p:pic>
      <p:sp>
        <p:nvSpPr>
          <p:cNvPr id="1048889" name="Text 7"/>
          <p:cNvSpPr/>
          <p:nvPr/>
        </p:nvSpPr>
        <p:spPr>
          <a:xfrm>
            <a:off x="7132320" y="1645920"/>
            <a:ext cx="4572000" cy="411480"/>
          </a:xfrm>
          <a:prstGeom prst="rect">
            <a:avLst/>
          </a:prstGeom>
          <a:noFill/>
        </p:spPr>
        <p:txBody>
          <a:bodyPr wrap="square" lIns="0" tIns="0" rIns="0" bIns="0" rtlCol="0" anchor="ctr"/>
          <a:lstStyle/>
          <a:p>
            <a:pPr marL="0" indent="0">
              <a:buNone/>
            </a:pPr>
            <a:r>
              <a:rPr lang="en-US" sz="1550" b="1" dirty="0">
                <a:solidFill>
                  <a:srgbClr val="16324A"/>
                </a:solidFill>
                <a:latin typeface="Cambria" pitchFamily="34" charset="0"/>
                <a:ea typeface="Cambria" pitchFamily="34" charset="-122"/>
                <a:cs typeface="Cambria" pitchFamily="34" charset="-120"/>
              </a:rPr>
              <a:t>Lessons Learned</a:t>
            </a:r>
            <a:endParaRPr lang="en-US" sz="1550" dirty="0"/>
          </a:p>
        </p:txBody>
      </p:sp>
      <p:sp>
        <p:nvSpPr>
          <p:cNvPr id="1048890" name="Text 8"/>
          <p:cNvSpPr/>
          <p:nvPr/>
        </p:nvSpPr>
        <p:spPr>
          <a:xfrm>
            <a:off x="6492240" y="2194560"/>
            <a:ext cx="5120640" cy="68580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1E293B"/>
                </a:solidFill>
                <a:latin typeface="Calibri" pitchFamily="34" charset="0"/>
                <a:ea typeface="Calibri" pitchFamily="34" charset="-122"/>
                <a:cs typeface="Calibri" pitchFamily="34" charset="-120"/>
              </a:rPr>
              <a:t>Effective planning and clearly defined responsibilities improved coordination across the team.</a:t>
            </a:r>
            <a:endParaRPr lang="en-US" sz="1150" dirty="0"/>
          </a:p>
        </p:txBody>
      </p:sp>
      <p:sp>
        <p:nvSpPr>
          <p:cNvPr id="1048891" name="Text 9"/>
          <p:cNvSpPr/>
          <p:nvPr/>
        </p:nvSpPr>
        <p:spPr>
          <a:xfrm>
            <a:off x="6492240" y="2971800"/>
            <a:ext cx="5120640" cy="68580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1E293B"/>
                </a:solidFill>
                <a:latin typeface="Calibri" pitchFamily="34" charset="0"/>
                <a:ea typeface="Calibri" pitchFamily="34" charset="-122"/>
                <a:cs typeface="Calibri" pitchFamily="34" charset="-120"/>
              </a:rPr>
              <a:t>Regular communication helped identify challenges early and reduced project delays.</a:t>
            </a:r>
            <a:endParaRPr lang="en-US" sz="1150" dirty="0"/>
          </a:p>
        </p:txBody>
      </p:sp>
      <p:sp>
        <p:nvSpPr>
          <p:cNvPr id="1048892" name="Text 10"/>
          <p:cNvSpPr/>
          <p:nvPr/>
        </p:nvSpPr>
        <p:spPr>
          <a:xfrm>
            <a:off x="6492240" y="3749040"/>
            <a:ext cx="5120640" cy="68580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1E293B"/>
                </a:solidFill>
                <a:latin typeface="Calibri" pitchFamily="34" charset="0"/>
                <a:ea typeface="Calibri" pitchFamily="34" charset="-122"/>
                <a:cs typeface="Calibri" pitchFamily="34" charset="-120"/>
              </a:rPr>
              <a:t>Close collaboration between Technical Project Managers and Data Analysts kept objectives aligned with technical implementation.</a:t>
            </a:r>
            <a:endParaRPr lang="en-US" sz="1150" dirty="0"/>
          </a:p>
        </p:txBody>
      </p:sp>
      <p:sp>
        <p:nvSpPr>
          <p:cNvPr id="1048893" name="Text 11"/>
          <p:cNvSpPr/>
          <p:nvPr/>
        </p:nvSpPr>
        <p:spPr>
          <a:xfrm>
            <a:off x="6492240" y="4526280"/>
            <a:ext cx="5120640" cy="68580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1E293B"/>
                </a:solidFill>
                <a:latin typeface="Calibri" pitchFamily="34" charset="0"/>
                <a:ea typeface="Calibri" pitchFamily="34" charset="-122"/>
                <a:cs typeface="Calibri" pitchFamily="34" charset="-120"/>
              </a:rPr>
              <a:t>Transparent documentation of AI-assisted work promoted accountability and reproducibility.</a:t>
            </a:r>
            <a:endParaRPr lang="en-US" sz="1150" dirty="0"/>
          </a:p>
        </p:txBody>
      </p:sp>
      <p:sp>
        <p:nvSpPr>
          <p:cNvPr id="1048894" name="Text 12"/>
          <p:cNvSpPr/>
          <p:nvPr/>
        </p:nvSpPr>
        <p:spPr>
          <a:xfrm>
            <a:off x="6492240" y="5303520"/>
            <a:ext cx="5120640" cy="685800"/>
          </a:xfrm>
          <a:prstGeom prst="rect">
            <a:avLst/>
          </a:prstGeom>
          <a:noFill/>
        </p:spPr>
        <p:txBody>
          <a:bodyPr wrap="square" lIns="0" tIns="0" rIns="0" bIns="0" rtlCol="0" anchor="t"/>
          <a:lstStyle/>
          <a:p>
            <a:pPr marL="342900" indent="-342900">
              <a:lnSpc>
                <a:spcPct val="115000"/>
              </a:lnSpc>
              <a:buSzPct val="100000"/>
              <a:buChar char="●"/>
            </a:pPr>
            <a:r>
              <a:rPr lang="en-US" sz="1150" dirty="0">
                <a:solidFill>
                  <a:srgbClr val="1E293B"/>
                </a:solidFill>
                <a:latin typeface="Calibri" pitchFamily="34" charset="0"/>
                <a:ea typeface="Calibri" pitchFamily="34" charset="-122"/>
                <a:cs typeface="Calibri" pitchFamily="34" charset="-120"/>
              </a:rPr>
              <a:t>Working within a one-week sprint emphasized prioritization, adaptability, and continuous progress monitoring.</a:t>
            </a:r>
            <a:endParaRPr lang="en-US" sz="1150" dirty="0"/>
          </a:p>
        </p:txBody>
      </p:sp>
      <p:sp>
        <p:nvSpPr>
          <p:cNvPr id="1048895" name="Text 13"/>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5B7280"/>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896" name="Text 14"/>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324A"/>
        </a:solidFill>
        <a:effectLst/>
      </p:bgPr>
    </p:bg>
    <p:spTree>
      <p:nvGrpSpPr>
        <p:cNvPr id="1" name=""/>
        <p:cNvGrpSpPr/>
        <p:nvPr/>
      </p:nvGrpSpPr>
      <p:grpSpPr>
        <a:xfrm>
          <a:off x="0" y="0"/>
          <a:ext cx="0" cy="0"/>
          <a:chOff x="0" y="0"/>
          <a:chExt cx="0" cy="0"/>
        </a:xfrm>
      </p:grpSpPr>
      <p:sp>
        <p:nvSpPr>
          <p:cNvPr id="1048900" name="Shape 0"/>
          <p:cNvSpPr/>
          <p:nvPr/>
        </p:nvSpPr>
        <p:spPr>
          <a:xfrm>
            <a:off x="9966960" y="-1371600"/>
            <a:ext cx="4114800" cy="4114800"/>
          </a:xfrm>
          <a:prstGeom prst="ellipse">
            <a:avLst/>
          </a:prstGeom>
          <a:solidFill>
            <a:srgbClr val="1C7293">
              <a:alpha val="28000"/>
            </a:srgbClr>
          </a:solidFill>
        </p:spPr>
      </p:sp>
      <p:sp>
        <p:nvSpPr>
          <p:cNvPr id="1048901" name="Shape 1"/>
          <p:cNvSpPr/>
          <p:nvPr/>
        </p:nvSpPr>
        <p:spPr>
          <a:xfrm>
            <a:off x="-1188720" y="4754880"/>
            <a:ext cx="3108960" cy="3108960"/>
          </a:xfrm>
          <a:prstGeom prst="ellipse">
            <a:avLst/>
          </a:prstGeom>
          <a:solidFill>
            <a:srgbClr val="F0663A">
              <a:alpha val="18000"/>
            </a:srgbClr>
          </a:solidFill>
        </p:spPr>
      </p:sp>
      <p:sp>
        <p:nvSpPr>
          <p:cNvPr id="1048902" name="Shape 2"/>
          <p:cNvSpPr/>
          <p:nvPr/>
        </p:nvSpPr>
        <p:spPr>
          <a:xfrm>
            <a:off x="822960" y="777240"/>
            <a:ext cx="685800" cy="685800"/>
          </a:xfrm>
          <a:prstGeom prst="ellipse">
            <a:avLst/>
          </a:prstGeom>
          <a:solidFill>
            <a:srgbClr val="1C7293"/>
          </a:solidFill>
        </p:spPr>
      </p:sp>
      <p:pic>
        <p:nvPicPr>
          <p:cNvPr id="2097184" name="Image 0" descr="preencoded.png"/>
          <p:cNvPicPr>
            <a:picLocks noChangeAspect="1"/>
          </p:cNvPicPr>
          <p:nvPr/>
        </p:nvPicPr>
        <p:blipFill>
          <a:blip r:embed="rId3"/>
          <a:stretch>
            <a:fillRect/>
          </a:stretch>
        </p:blipFill>
        <p:spPr>
          <a:xfrm>
            <a:off x="1001268" y="955548"/>
            <a:ext cx="329184" cy="329184"/>
          </a:xfrm>
          <a:prstGeom prst="rect">
            <a:avLst/>
          </a:prstGeom>
        </p:spPr>
      </p:pic>
      <p:sp>
        <p:nvSpPr>
          <p:cNvPr id="1048903" name="Text 3"/>
          <p:cNvSpPr/>
          <p:nvPr/>
        </p:nvSpPr>
        <p:spPr>
          <a:xfrm>
            <a:off x="822960" y="1600200"/>
            <a:ext cx="5486400" cy="320040"/>
          </a:xfrm>
          <a:prstGeom prst="rect">
            <a:avLst/>
          </a:prstGeom>
          <a:noFill/>
        </p:spPr>
        <p:txBody>
          <a:bodyPr wrap="square" lIns="0" tIns="0" rIns="0" bIns="0" rtlCol="0" anchor="ctr"/>
          <a:lstStyle/>
          <a:p>
            <a:pPr marL="0" indent="0">
              <a:buNone/>
            </a:pPr>
            <a:r>
              <a:rPr lang="en-US" sz="1300" b="1" kern="0" spc="200" dirty="0">
                <a:solidFill>
                  <a:srgbClr val="3EC1B3"/>
                </a:solidFill>
                <a:latin typeface="Calibri" pitchFamily="34" charset="0"/>
                <a:ea typeface="Calibri" pitchFamily="34" charset="-122"/>
                <a:cs typeface="Calibri" pitchFamily="34" charset="-120"/>
              </a:rPr>
              <a:t>CONCLUSION</a:t>
            </a:r>
            <a:endParaRPr lang="en-US" sz="1300" dirty="0"/>
          </a:p>
        </p:txBody>
      </p:sp>
      <p:sp>
        <p:nvSpPr>
          <p:cNvPr id="1048904" name="Text 4"/>
          <p:cNvSpPr/>
          <p:nvPr/>
        </p:nvSpPr>
        <p:spPr>
          <a:xfrm>
            <a:off x="822960" y="1901952"/>
            <a:ext cx="7772400" cy="685800"/>
          </a:xfrm>
          <a:prstGeom prst="rect">
            <a:avLst/>
          </a:prstGeom>
          <a:noFill/>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Data to Decisions</a:t>
            </a:r>
            <a:endParaRPr lang="en-US" sz="3000" dirty="0"/>
          </a:p>
        </p:txBody>
      </p:sp>
      <p:sp>
        <p:nvSpPr>
          <p:cNvPr id="1048905" name="Text 5"/>
          <p:cNvSpPr/>
          <p:nvPr/>
        </p:nvSpPr>
        <p:spPr>
          <a:xfrm>
            <a:off x="822960" y="2697480"/>
            <a:ext cx="6400800" cy="1371600"/>
          </a:xfrm>
          <a:prstGeom prst="rect">
            <a:avLst/>
          </a:prstGeom>
          <a:noFill/>
        </p:spPr>
        <p:txBody>
          <a:bodyPr wrap="square" lIns="0" tIns="0" rIns="0" bIns="0" rtlCol="0" anchor="ctr"/>
          <a:lstStyle/>
          <a:p>
            <a:pPr marL="0" indent="0">
              <a:lnSpc>
                <a:spcPct val="130000"/>
              </a:lnSpc>
              <a:buNone/>
            </a:pPr>
            <a:r>
              <a:rPr lang="en-US" sz="1300" dirty="0">
                <a:solidFill>
                  <a:srgbClr val="CADCE6"/>
                </a:solidFill>
                <a:latin typeface="Calibri" pitchFamily="34" charset="0"/>
                <a:ea typeface="Calibri" pitchFamily="34" charset="-122"/>
                <a:cs typeface="Calibri" pitchFamily="34" charset="-120"/>
              </a:rPr>
              <a:t>This project demonstrates how educational data can be transformed into actionable insights that support student success. By combining exploratory data analysis, predictive </a:t>
            </a:r>
            <a:r>
              <a:rPr lang="en-US" sz="1300" dirty="0" smtClean="0">
                <a:solidFill>
                  <a:srgbClr val="CADCE6"/>
                </a:solidFill>
                <a:latin typeface="Calibri" pitchFamily="34" charset="0"/>
                <a:ea typeface="Calibri" pitchFamily="34" charset="-122"/>
                <a:cs typeface="Calibri" pitchFamily="34" charset="-120"/>
              </a:rPr>
              <a:t>classification</a:t>
            </a:r>
            <a:r>
              <a:rPr lang="en-US" sz="1300" dirty="0" smtClean="0">
                <a:solidFill>
                  <a:srgbClr val="CADCE6"/>
                </a:solidFill>
                <a:latin typeface="Calibri" pitchFamily="34" charset="0"/>
                <a:ea typeface="Calibri" pitchFamily="34" charset="-122"/>
                <a:cs typeface="Calibri" pitchFamily="34" charset="-120"/>
              </a:rPr>
              <a:t>, </a:t>
            </a:r>
            <a:r>
              <a:rPr lang="en-US" sz="1300" dirty="0">
                <a:solidFill>
                  <a:srgbClr val="CADCE6"/>
                </a:solidFill>
                <a:latin typeface="Calibri" pitchFamily="34" charset="0"/>
                <a:ea typeface="Calibri" pitchFamily="34" charset="-122"/>
                <a:cs typeface="Calibri" pitchFamily="34" charset="-120"/>
              </a:rPr>
              <a:t>and an intuitive risk dashboard, the proposed Early Warning System gives institutions a practical tool for identifying students who may require timely academic intervention.</a:t>
            </a:r>
            <a:endParaRPr lang="en-US" sz="1300" dirty="0"/>
          </a:p>
        </p:txBody>
      </p:sp>
      <p:sp>
        <p:nvSpPr>
          <p:cNvPr id="1048906" name="Text 6"/>
          <p:cNvSpPr/>
          <p:nvPr/>
        </p:nvSpPr>
        <p:spPr>
          <a:xfrm>
            <a:off x="822960" y="4160520"/>
            <a:ext cx="6400800" cy="1280160"/>
          </a:xfrm>
          <a:prstGeom prst="rect">
            <a:avLst/>
          </a:prstGeom>
          <a:noFill/>
        </p:spPr>
        <p:txBody>
          <a:bodyPr wrap="square" lIns="0" tIns="0" rIns="0" bIns="0" rtlCol="0" anchor="ctr"/>
          <a:lstStyle/>
          <a:p>
            <a:pPr marL="0" indent="0">
              <a:lnSpc>
                <a:spcPct val="130000"/>
              </a:lnSpc>
              <a:buNone/>
            </a:pPr>
            <a:r>
              <a:rPr lang="en-US" sz="1300" dirty="0">
                <a:solidFill>
                  <a:srgbClr val="CADCE6"/>
                </a:solidFill>
                <a:latin typeface="Calibri" pitchFamily="34" charset="0"/>
                <a:ea typeface="Calibri" pitchFamily="34" charset="-122"/>
                <a:cs typeface="Calibri" pitchFamily="34" charset="-120"/>
              </a:rPr>
              <a:t>Although developed as a bootcamp proof of concept, the solution illustrates the value of data-driven decision-making in improving student retention, promoting equitable educational outcomes, and supporting institutional planning — with potential to evolve into a practical decision-support tool for higher education.</a:t>
            </a:r>
            <a:endParaRPr lang="en-US" sz="1300" dirty="0"/>
          </a:p>
        </p:txBody>
      </p:sp>
      <p:sp>
        <p:nvSpPr>
          <p:cNvPr id="1048907" name="Shape 7"/>
          <p:cNvSpPr/>
          <p:nvPr/>
        </p:nvSpPr>
        <p:spPr>
          <a:xfrm>
            <a:off x="7589520" y="2697480"/>
            <a:ext cx="4023360" cy="3566160"/>
          </a:xfrm>
          <a:prstGeom prst="roundRect">
            <a:avLst>
              <a:gd name="adj" fmla="val 2564"/>
            </a:avLst>
          </a:prstGeom>
          <a:solidFill>
            <a:srgbClr val="1E4A5F">
              <a:alpha val="80000"/>
            </a:srgbClr>
          </a:solidFill>
        </p:spPr>
      </p:sp>
      <p:sp>
        <p:nvSpPr>
          <p:cNvPr id="1048908" name="Shape 8"/>
          <p:cNvSpPr/>
          <p:nvPr/>
        </p:nvSpPr>
        <p:spPr>
          <a:xfrm>
            <a:off x="7818120" y="2926080"/>
            <a:ext cx="457200" cy="457200"/>
          </a:xfrm>
          <a:prstGeom prst="ellipse">
            <a:avLst/>
          </a:prstGeom>
          <a:solidFill>
            <a:srgbClr val="1C7293"/>
          </a:solidFill>
        </p:spPr>
      </p:sp>
      <p:pic>
        <p:nvPicPr>
          <p:cNvPr id="2097185" name="Image 1" descr="preencoded.png"/>
          <p:cNvPicPr>
            <a:picLocks noChangeAspect="1"/>
          </p:cNvPicPr>
          <p:nvPr/>
        </p:nvPicPr>
        <p:blipFill>
          <a:blip r:embed="rId4"/>
          <a:stretch>
            <a:fillRect/>
          </a:stretch>
        </p:blipFill>
        <p:spPr>
          <a:xfrm>
            <a:off x="7936992" y="3044952"/>
            <a:ext cx="219456" cy="219456"/>
          </a:xfrm>
          <a:prstGeom prst="rect">
            <a:avLst/>
          </a:prstGeom>
        </p:spPr>
      </p:pic>
      <p:sp>
        <p:nvSpPr>
          <p:cNvPr id="1048909" name="Text 9"/>
          <p:cNvSpPr/>
          <p:nvPr/>
        </p:nvSpPr>
        <p:spPr>
          <a:xfrm>
            <a:off x="7818120" y="3520440"/>
            <a:ext cx="3657600" cy="365760"/>
          </a:xfrm>
          <a:prstGeom prst="rect">
            <a:avLst/>
          </a:prstGeom>
          <a:noFill/>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Acknowledgements</a:t>
            </a:r>
            <a:endParaRPr lang="en-US" sz="1500" dirty="0"/>
          </a:p>
        </p:txBody>
      </p:sp>
      <p:sp>
        <p:nvSpPr>
          <p:cNvPr id="1048910" name="Text 10"/>
          <p:cNvSpPr/>
          <p:nvPr/>
        </p:nvSpPr>
        <p:spPr>
          <a:xfrm>
            <a:off x="7818120" y="3931920"/>
            <a:ext cx="3566160" cy="1005840"/>
          </a:xfrm>
          <a:prstGeom prst="rect">
            <a:avLst/>
          </a:prstGeom>
          <a:noFill/>
        </p:spPr>
        <p:txBody>
          <a:bodyPr wrap="square" lIns="0" tIns="0" rIns="0" bIns="0" rtlCol="0" anchor="ctr"/>
          <a:lstStyle/>
          <a:p>
            <a:pPr marL="0" indent="0">
              <a:lnSpc>
                <a:spcPct val="125000"/>
              </a:lnSpc>
              <a:buNone/>
            </a:pPr>
            <a:r>
              <a:rPr lang="en-US" sz="1150" dirty="0">
                <a:solidFill>
                  <a:srgbClr val="CADCE6"/>
                </a:solidFill>
                <a:latin typeface="Calibri" pitchFamily="34" charset="0"/>
                <a:ea typeface="Calibri" pitchFamily="34" charset="-122"/>
                <a:cs typeface="Calibri" pitchFamily="34" charset="-120"/>
              </a:rPr>
              <a:t>The team thanks the Women Techsters Bootcamp facilitators and mentors for their guidance, support, and constructive feedback throughout the project.</a:t>
            </a:r>
            <a:endParaRPr lang="en-US" sz="1150" dirty="0"/>
          </a:p>
        </p:txBody>
      </p:sp>
      <p:sp>
        <p:nvSpPr>
          <p:cNvPr id="1048911" name="Text 11"/>
          <p:cNvSpPr/>
          <p:nvPr/>
        </p:nvSpPr>
        <p:spPr>
          <a:xfrm>
            <a:off x="7818120" y="4983480"/>
            <a:ext cx="3566160" cy="1188720"/>
          </a:xfrm>
          <a:prstGeom prst="rect">
            <a:avLst/>
          </a:prstGeom>
          <a:noFill/>
        </p:spPr>
        <p:txBody>
          <a:bodyPr wrap="square" lIns="0" tIns="0" rIns="0" bIns="0" rtlCol="0" anchor="ctr"/>
          <a:lstStyle/>
          <a:p>
            <a:pPr marL="0" indent="0">
              <a:lnSpc>
                <a:spcPct val="120000"/>
              </a:lnSpc>
              <a:buNone/>
            </a:pPr>
            <a:r>
              <a:rPr lang="en-US" sz="1050" dirty="0">
                <a:solidFill>
                  <a:srgbClr val="A9C2CE"/>
                </a:solidFill>
                <a:latin typeface="Calibri" pitchFamily="34" charset="0"/>
                <a:ea typeface="Calibri" pitchFamily="34" charset="-122"/>
                <a:cs typeface="Calibri" pitchFamily="34" charset="-120"/>
              </a:rPr>
              <a:t>We also acknowledge the responsible use of AI-assisted tools, including ChatGPT and Claude, which supported documentation, coding assistance, analytical guidance, and report drafting. All AI-generated outputs were reviewed, validated, and refined by team members before inclusion in the final deliverables.</a:t>
            </a:r>
            <a:endParaRPr lang="en-US" sz="1050" dirty="0"/>
          </a:p>
        </p:txBody>
      </p:sp>
      <p:sp>
        <p:nvSpPr>
          <p:cNvPr id="1048912" name="Text 12"/>
          <p:cNvSpPr/>
          <p:nvPr/>
        </p:nvSpPr>
        <p:spPr>
          <a:xfrm>
            <a:off x="457200" y="6473952"/>
            <a:ext cx="7315200" cy="274320"/>
          </a:xfrm>
          <a:prstGeom prst="rect">
            <a:avLst/>
          </a:prstGeom>
          <a:noFill/>
        </p:spPr>
        <p:txBody>
          <a:bodyPr wrap="square" lIns="0" tIns="0" rIns="0" bIns="0" rtlCol="0" anchor="ctr"/>
          <a:lstStyle/>
          <a:p>
            <a:pPr marL="0" indent="0" algn="l">
              <a:buNone/>
            </a:pPr>
            <a:r>
              <a:rPr lang="en-US" sz="900" dirty="0">
                <a:solidFill>
                  <a:srgbClr val="9FB6C4"/>
                </a:solidFill>
                <a:latin typeface="Calibri" pitchFamily="34" charset="0"/>
                <a:ea typeface="Calibri" pitchFamily="34" charset="-122"/>
                <a:cs typeface="Calibri" pitchFamily="34" charset="-120"/>
              </a:rPr>
              <a:t>INNOVATHERS · Group 13 · Tech4Dev WT Bootcamp Cohort 5.1</a:t>
            </a:r>
            <a:endParaRPr lang="en-US" sz="900" dirty="0"/>
          </a:p>
        </p:txBody>
      </p:sp>
      <p:sp>
        <p:nvSpPr>
          <p:cNvPr id="1048913" name="Text 13"/>
          <p:cNvSpPr/>
          <p:nvPr/>
        </p:nvSpPr>
        <p:spPr>
          <a:xfrm>
            <a:off x="11247120" y="6473952"/>
            <a:ext cx="457200" cy="274320"/>
          </a:xfrm>
          <a:prstGeom prst="rect">
            <a:avLst/>
          </a:prstGeom>
          <a:noFill/>
        </p:spPr>
        <p:txBody>
          <a:bodyPr wrap="square" lIns="0" tIns="0" rIns="0" bIns="0" rtlCol="0" anchor="ctr"/>
          <a:lstStyle/>
          <a:p>
            <a:pPr marL="0" indent="0" algn="r">
              <a:buNone/>
            </a:pPr>
            <a:r>
              <a:rPr lang="en-US" sz="900" dirty="0">
                <a:solidFill>
                  <a:srgbClr val="9FB6C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00656D264F44B46BFCAD9AF06156600" ma:contentTypeVersion="3" ma:contentTypeDescription="Create a new document." ma:contentTypeScope="" ma:versionID="e8a23114864fadfde733a9a86564640f">
  <xsd:schema xmlns:xsd="http://www.w3.org/2001/XMLSchema" xmlns:xs="http://www.w3.org/2001/XMLSchema" xmlns:p="http://schemas.microsoft.com/office/2006/metadata/properties" xmlns:ns2="c528fbbf-fd73-470a-b148-5f3c2f175ea4" targetNamespace="http://schemas.microsoft.com/office/2006/metadata/properties" ma:root="true" ma:fieldsID="c2663663be86ac4713f739add19018f6" ns2:_="">
    <xsd:import namespace="c528fbbf-fd73-470a-b148-5f3c2f175ea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28fbbf-fd73-470a-b148-5f3c2f175e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D44218-03C5-4534-A002-E82879ED832D}">
  <ds:schemaRefs>
    <ds:schemaRef ds:uri="http://schemas.microsoft.com/sharepoint/v3/contenttype/forms"/>
  </ds:schemaRefs>
</ds:datastoreItem>
</file>

<file path=customXml/itemProps2.xml><?xml version="1.0" encoding="utf-8"?>
<ds:datastoreItem xmlns:ds="http://schemas.openxmlformats.org/officeDocument/2006/customXml" ds:itemID="{739D90F7-79E9-455D-ADB2-B542CD899D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28fbbf-fd73-470a-b148-5f3c2f175e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26153E-3F8D-4E30-9346-D33E14BB4BA5}">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c528fbbf-fd73-470a-b148-5f3c2f175ea4"/>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TotalTime>
  <Words>2375</Words>
  <Application>Microsoft Office PowerPoint</Application>
  <PresentationFormat>Widescreen</PresentationFormat>
  <Paragraphs>289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Dropout Risk Prediction</dc:title>
  <dc:creator>INNOVATHERS (Group 13)</dc:creator>
  <cp:lastModifiedBy>Williams Ugo</cp:lastModifiedBy>
  <cp:revision>2</cp:revision>
  <dcterms:created xsi:type="dcterms:W3CDTF">2026-07-07T18:49:06Z</dcterms:created>
  <dcterms:modified xsi:type="dcterms:W3CDTF">2026-07-07T21:27:14Z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fa781e8d4c66467b8321cb4039853cbe_23</vt:lpwstr>
  </property>
  <property fmtid="{D5CDD505-2E9C-101B-9397-08002B2CF9AE}" pid="3" name="ContentTypeId">
    <vt:lpwstr>0x010100F00656D264F44B46BFCAD9AF06156600</vt:lpwstr>
  </property>
</Properties>
</file>